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eaf65c21cf4a47" /><Relationship Type="http://schemas.openxmlformats.org/officeDocument/2006/relationships/extended-properties" Target="/docProps/app.xml" Id="R62d6e4e9993340e9" /><Relationship Type="http://schemas.openxmlformats.org/officeDocument/2006/relationships/officeDocument" Target="/ppt/presentation.xml" Id="R42fbe0cf3ff841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3f2ee32bf54beb"/>
  </p:sldMasterIdLst>
  <p:notesMasterIdLst>
    <p:notesMasterId xmlns:r="http://schemas.openxmlformats.org/officeDocument/2006/relationships" r:id="Rdda68a98c8bf47db"/>
  </p:notesMasterIdLst>
  <p:sldIdLst>
    <p:sldId xmlns:r="http://schemas.openxmlformats.org/officeDocument/2006/relationships" id="256" r:id="R932668a31ace4199"/>
    <p:sldId xmlns:r="http://schemas.openxmlformats.org/officeDocument/2006/relationships" id="257" r:id="R0969ec15bac54b9a"/>
    <p:sldId xmlns:r="http://schemas.openxmlformats.org/officeDocument/2006/relationships" id="258" r:id="Ra7a911cfae574957"/>
    <p:sldId xmlns:r="http://schemas.openxmlformats.org/officeDocument/2006/relationships" id="259" r:id="Ra025636fc05640a9"/>
    <p:sldId xmlns:r="http://schemas.openxmlformats.org/officeDocument/2006/relationships" id="260" r:id="R10751ed17d7c4296"/>
    <p:sldId xmlns:r="http://schemas.openxmlformats.org/officeDocument/2006/relationships" id="261" r:id="Re402d5afdee14fce"/>
    <p:sldId xmlns:r="http://schemas.openxmlformats.org/officeDocument/2006/relationships" id="262" r:id="R8588cfc3ff6b41c0"/>
    <p:sldId xmlns:r="http://schemas.openxmlformats.org/officeDocument/2006/relationships" id="263" r:id="R29463eae6a5f460d"/>
    <p:sldId xmlns:r="http://schemas.openxmlformats.org/officeDocument/2006/relationships" id="264" r:id="Reea9534187614a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87006d4c284daf" /><Relationship Type="http://schemas.openxmlformats.org/officeDocument/2006/relationships/slideMaster" Target="/ppt/slideMasters/slideMaster1.xml" Id="R463f2ee32bf54beb" /><Relationship Type="http://schemas.openxmlformats.org/officeDocument/2006/relationships/notesMaster" Target="/ppt/notesMasters/notesMaster1.xml" Id="Rdda68a98c8bf47db" /><Relationship Type="http://schemas.openxmlformats.org/officeDocument/2006/relationships/presProps" Target="/ppt/presProps.xml" Id="R53ce24af2e8e45a3" /><Relationship Type="http://schemas.openxmlformats.org/officeDocument/2006/relationships/tableStyles" Target="/ppt/tableStyles.xml" Id="R44b34fff5ac84fc3" /><Relationship Type="http://schemas.openxmlformats.org/officeDocument/2006/relationships/slide" Target="/ppt/slides/slide1.xml" Id="R932668a31ace4199" /><Relationship Type="http://schemas.openxmlformats.org/officeDocument/2006/relationships/slide" Target="/ppt/slides/slide2.xml" Id="R0969ec15bac54b9a" /><Relationship Type="http://schemas.openxmlformats.org/officeDocument/2006/relationships/slide" Target="/ppt/slides/slide3.xml" Id="Ra7a911cfae574957" /><Relationship Type="http://schemas.openxmlformats.org/officeDocument/2006/relationships/slide" Target="/ppt/slides/slide4.xml" Id="Ra025636fc05640a9" /><Relationship Type="http://schemas.openxmlformats.org/officeDocument/2006/relationships/slide" Target="/ppt/slides/slide5.xml" Id="R10751ed17d7c4296" /><Relationship Type="http://schemas.openxmlformats.org/officeDocument/2006/relationships/slide" Target="/ppt/slides/slide6.xml" Id="Re402d5afdee14fce" /><Relationship Type="http://schemas.openxmlformats.org/officeDocument/2006/relationships/slide" Target="/ppt/slides/slide7.xml" Id="R8588cfc3ff6b41c0" /><Relationship Type="http://schemas.openxmlformats.org/officeDocument/2006/relationships/slide" Target="/ppt/slides/slide8.xml" Id="R29463eae6a5f460d" /><Relationship Type="http://schemas.openxmlformats.org/officeDocument/2006/relationships/slide" Target="/ppt/slides/slide9.xml" Id="Reea9534187614a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a3fa7645f545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f88c69a9eb4eca" /><Relationship Type="http://schemas.openxmlformats.org/officeDocument/2006/relationships/notesMaster" Target="/ppt/notesMasters/notesMaster1.xml" Id="Rfee80b288bae43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29211c181548bd" /><Relationship Type="http://schemas.openxmlformats.org/officeDocument/2006/relationships/notesMaster" Target="/ppt/notesMasters/notesMaster1.xml" Id="Rf87431b5684947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d512764b4b4299" /><Relationship Type="http://schemas.openxmlformats.org/officeDocument/2006/relationships/notesMaster" Target="/ppt/notesMasters/notesMaster1.xml" Id="R0f8220f9e7714f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9c03fe012b4859" /><Relationship Type="http://schemas.openxmlformats.org/officeDocument/2006/relationships/notesMaster" Target="/ppt/notesMasters/notesMaster1.xml" Id="Rfb2d6b40ce8549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d9504d81d24b88" /><Relationship Type="http://schemas.openxmlformats.org/officeDocument/2006/relationships/notesMaster" Target="/ppt/notesMasters/notesMaster1.xml" Id="R58ee4dbbc52141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a8415a28484674" /><Relationship Type="http://schemas.openxmlformats.org/officeDocument/2006/relationships/notesMaster" Target="/ppt/notesMasters/notesMaster1.xml" Id="R3485f0ec53714a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381a1ecc194913" /><Relationship Type="http://schemas.openxmlformats.org/officeDocument/2006/relationships/notesMaster" Target="/ppt/notesMasters/notesMaster1.xml" Id="Rc863d03b414e48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dfb77c0def406d" /><Relationship Type="http://schemas.openxmlformats.org/officeDocument/2006/relationships/notesMaster" Target="/ppt/notesMasters/notesMaster1.xml" Id="R87f56fd5740441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fc01e75dc54f5e" /><Relationship Type="http://schemas.openxmlformats.org/officeDocument/2006/relationships/notesMaster" Target="/ppt/notesMasters/notesMaster1.xml" Id="R9cc5f11a1dd44b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Assigned Project 15: Heart-Disease Risk - Domain-Structured Bayesian Network vs Neural Network. Team T008, Section C, Newton School of Technology, Rishihood University. Five names/enrolments confirmed by the team: Nishtha Gupta2401010303, Aditya Srivastava2401010039, Aanya Mehrotra2401010006, Shrijan Sanidhya2401010449, Abhay Mallik2401020002. Individual contributions remain to be supplied with evidence. Official scope places neural-network implementation in Phase2; it is not a missing Phase1 ML experiment. Current prediction is historical disease presence, not future risk or diagnosis.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Read-only 21Oct2026 comparison reversed category labels to UCI numeric codes and compared all14 measurement/target fields, preserving duplicate multiplicity. All920 tuples match the combined processed.cleveland.data303, processed.hungarian.data294, processed.switzerland.data123, processed.va.data200 from https://archive.ics.uci.edu/static/public/45/heart+disease.zip. Local site counts304/293/123/200: ID304 is labelled Cleveland but matches first Hungarian row. It lies in D. No dataset, grouping, split or result changed; any correction requires a separate documented decision and evaluation. Git f739c2b first added byte-identical CSV; no acquisition/merge script. UCI currently lists CC BY4.0, DOI10.24432/C52P4X. Supplier/download/merge/license history and patient linkage remain unresolved. Ca/thal excluded for609/484 missing values of918; remaining11 predictors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CSV counts: pressure 60, cholesterol 201, fbs 90, restecg 2, thalch 55, exang 55, oldpeak 62, slope 307. Zero pressure/cholesterol becomes missing. Age, sex and cp are complete. Numeric missingness indicators are included. Existing chart uses four selected missingness counts. BN uses separate training-only median/mode imputation and quantile bins, and marginalizes missing inference evidence. Missingness is site-dependent and may be informative.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artifacts/runs/20261020T193544Z_2a8a1491/effective_protocol.json, pooled/partitions.json and freeze.json. Historical seed42, S/C43, outer44, inner45, final search46, estimator42. Model-family ranking uses unweighted mean outer F1 at p&gt;=0.50, then AUC, then fixed BN/LR/RF/HGB/XGB order. Hyperparameter ties use F1/AUC/canonical JSON. Exact full-precision equality defines ties. C searches k/100 for k=0..100 by F1; ties nearest0.50 then lower k. T cannot choose family or cutoff. Winning outer-CV score still has across-family selection optimism. Hospital checks use no T rows or pooled learned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artifacts/runs/20261020T193544Z_2a8a1491/pooled/comparison.json and nested_oof_predictions.csv. Full precision mean F1: Logistic regression=0.8230883974615283; Random forest=0.8357547551075293; Histogram gradient boosting=0.8104353064904478; XGBoost=0.8308103379873714; Bayesian network=0.8179300807255652. These are mean per-fold scores, not pooled OOF F1. The selected score is still optimistic after comparing families. The small 0.0049 lead is not a superiority test. BN highest mean outer AUC=0.8780. LR/RF/HGB/XGB/BN search configurations=8/6/8/8/1.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artifacts/runs/20261020T193544Z_2a8a1491/pooled/metrics.json, evaluation_predictions.csv and freeze.json. All table values use tuned (C-selected cutoff) metrics. RF confusion matrix TN50 FP32 FN4 TP98, precision0.7538, Brier0.1308. LR retrospective F1/AUC are higher, but T rankings cannot replace RF. This is retrospective evaluation because the historical 184-row holdout had already been reported/inspected, not a newly untouched or external test. Saved 2000 paired row-bootstrap intervals condition on fitted models; no recalibration, patient-cluster adjustment or clinical cost optimization. Final remediation independently reconciled all25 default/tuned evaluations from saved predictions and reloaded25 models without fitting. RF balanced accuracy0.7852702056432329. LR higher retrospective F1 does not replace RF. Cutoff0.38 maximizes development F1, not medical utility. Calibration interpretation: Van Calster, McLernon, van Smeden, Wynants and Steyerberg (2019), Calibration: the Achilles heel of predictive analytics, BMC Medicine17:230, DOI10.1186/s12916-019-1466-7, https://link.springer.com/article/10.1186/s12916-019-1466-7.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Unfavorable results are retained. Values are percentage-point differences in F1 from saved predictions for each locally selected family versus always-positive decisions on exactly the same evaluation IDs/labels. Neither held-out results nor pooled winner chooses local families/cutoffs. Full selected-model metrics and CM at local C_H cutoff: Cleveland: N+113/N-136, Logistic regression, threshold0.5, CM[[117,19],[33,80]], precision0.8080808080808081, sensitivity0.7079646017699115, specificity0.8602941176470589, balanced accuracy0.7841293597084852, F10.7547169811320755, accuracy0.7911646586345381, AUC0.8656298802706923; always-positive F10.6243093922651933, accuracy0.4538152610441767; Hungary: N+84/N-144, Histogram gradient boosting, threshold0.28, CM[[72,72],[9,75]], precision0.5102040816326531, sensitivity0.8928571428571429, specificity0.5, balanced accuracy0.6964285714285714, F10.6493506493506493, accuracy0.6447368421052632, AUC0.8416418650793651; always-positive F10.5384615384615384, accuracy0.3684210526315789; Switzerland: N+88/N-8, Random forest, threshold0.44, CM[[4,4],[17,71]], precision0.9466666666666667, sensitivity0.8068181818181818, specificity0.5, balanced accuracy0.6534090909090908, F10.8711656441717791, accuracy0.78125, AUC0.7471590909090908; always-positive F10.9565217391304348, accuracy0.9166666666666666; VA Long Beach: N+121/N-40, Logistic regression, threshold0.3, CM[[2,38],[2,119]], precision0.7579617834394905, sensitivity0.9834710743801653, specificity0.05, balanced accuracy0.5167355371900827, F10.8561151079136691, accuracy0.7515527950310559, AUC0.7078512396694215; always-positive F10.8581560283687943, accuracy0.7515527950310559. Always-positive sensitivity1 specificity0 balanced accuracy0.5 AUC0.5. Reference probability uses S_H prevalence; decisions explicitly always positive even if that constant is below0.5. F1=2p/(1+p) under always-positive decisions, so positive-heavy sites can yield high reference F1. AUC describes ranking, not useful specificity at a chosen cutoff. Swiss8negative rows and VA40 limit precision. Unknown patient linkage, site-dependent missingness/measurement/label differences and ID304 grouping discrepancy limit transport claims. No family, graph or threshold changed. Results use the unchanged run 20261020T193544Z_2a8a1491.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frozen graph: disease-&gt;all11features plusoldpeak-&gt;slope; approvedfalse. P(Y,X)=P(Y) product_{i!=slope} P(X_i|Y) P(slope|Y,oldpeak). All other features independent givenY; slope independent of remaining9 givenY,oldpeak. Directions are generative/statistical; disease does not cause age/sex. Detailed12-edge and54-omitted-pair evidence register: docs/bn_design.md. Friedman, Geiger and Goldszmidt (1997), Bayesian Network Classifiers, Machine Learning29:131-163, DOI10.1023/A:1007465528199, https://ai.stanford.edu/~nir/Abstracts/FrGG1.html supports classifier construction and TAN, not our edges; this manual one-edge model is not learnedTAN. UCI variable definitions support shared ST measurement context, neither conditional dependency nor direction. Heckerman1995 MSR-TR-95-06 supports BN methods only. Esmaeili etal2024, Unraveling atherosclerotic cardiovascular disease risk factors through conditional probability analysis with Bayesian networks: insights from the AZAR cohort study, Scientific Reports14:4361, DOI10.1038/s41598-024-55141-2, https://www.nature.com/articles/s41598-024-55141-2.pdf: cross-sectional Iranian healthcare providers, different ASCVD label/features, leave-one-out evaluation; no transferable edges/performance claim. Alpha1 perchildstate CPT estimate(N_ijk+alpha)/(N_ij+Kalpha); numeric1/3,2/3quantiles/median-mode imputation training-only, not EM. Exact inference sums missing independent leaves and O/L branch; no evidence returns class prior; valid unseen states smoothed, invalid categories rejected. No topology changed or approval invented; domain adequacy remains incomplete.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remediation: all38 lightweight tests pass in external disposable pinned Python3.13.6 environment; all25 saved model prediction round trips and per-family metric/nestedmean/cutoff reconstructions pass; all5always-positive references checked sameIDs/labels. No real-data fitting, graph/dataset/source/pipeline/UI change. Original run340.9267026660018seconds,2940fits25models; original environmentPython3.13.6 numpy2.5.3 pandas3.0.6 sklearn1.9.1 Joblib1.6.0 XGBoost3.4.1. Truthful individual contributions and merge provenance/ID304 explanation remain team actions; faculty must review domain independences, measurement stage, retrospective/D-only evaluation and submission requirements. Phase2 NN is not a current gap. Local HEAD and remote main both1f953e5e4281cb355e7f205062ca666e2cd36779 on21Oct2026; modified/untracked implementation and remediations are unpublished. No commit/push/deployment. Prepared guide does not demonstrate individual viva knowledge. No clinical diagnosis, future-event prediction, medically established threshold or causal graph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c94fc161b0482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125309ade542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1b837384c5499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2f3f12126a473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b5eb1f6cc545a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bf9743d1eb44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CCCF8C-7CD5-402D-A122-4DBC653C81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BB20F1E-DAA2-4554-8EC5-B51D03DF859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4E1433D-1207-4D1C-9461-92C234652F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AC733E-54EF-40BD-8D34-13321F1B17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40E0C3D-2112-4B4E-B7CC-A3FC574CFB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F7C5CE-887D-4E56-BDC1-F909BD5F0E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50ACF3-8A89-4A33-92A7-E743362503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A05B9C2-0EE6-488D-9846-12E860A48B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1CF21A-274A-4C12-8A04-DC0C73CD4A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CF91E5-34CD-4D88-882E-EFD0FFD84F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2d1d94867f486f" /><Relationship Type="http://schemas.openxmlformats.org/officeDocument/2006/relationships/slideLayout" Target="/ppt/slideLayouts/slideLayout1.xml" Id="R1c7df0a7f1774bb4" /><Relationship Type="http://schemas.openxmlformats.org/officeDocument/2006/relationships/slideLayout" Target="/ppt/slideLayouts/slideLayout2.xml" Id="R4fb96ae0c78b4701" /><Relationship Type="http://schemas.openxmlformats.org/officeDocument/2006/relationships/slideLayout" Target="/ppt/slideLayouts/slideLayout3.xml" Id="R6b83a96d6eff4e4c" /><Relationship Type="http://schemas.openxmlformats.org/officeDocument/2006/relationships/slideLayout" Target="/ppt/slideLayouts/slideLayout4.xml" Id="R94327789de644aa1" /><Relationship Type="http://schemas.openxmlformats.org/officeDocument/2006/relationships/slideLayout" Target="/ppt/slideLayouts/slideLayout5.xml" Id="Re77319bbd6b548ee" /><Relationship Type="http://schemas.openxmlformats.org/officeDocument/2006/relationships/slideLayout" Target="/ppt/slideLayouts/slideLayout6.xml" Id="Ra44433850e484f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7df0a7f1774bb4"/>
    <p:sldLayoutId xmlns:r="http://schemas.openxmlformats.org/officeDocument/2006/relationships" id="2147483650" r:id="R4fb96ae0c78b4701"/>
    <p:sldLayoutId xmlns:r="http://schemas.openxmlformats.org/officeDocument/2006/relationships" id="2147483651" r:id="R6b83a96d6eff4e4c"/>
    <p:sldLayoutId xmlns:r="http://schemas.openxmlformats.org/officeDocument/2006/relationships" id="2147483652" r:id="R94327789de644aa1"/>
    <p:sldLayoutId xmlns:r="http://schemas.openxmlformats.org/officeDocument/2006/relationships" id="2147483653" r:id="Re77319bbd6b548ee"/>
    <p:sldLayoutId xmlns:r="http://schemas.openxmlformats.org/officeDocument/2006/relationships" id="2147483654" r:id="Ra44433850e484f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f8e5b391424cbb" /><Relationship Type="http://schemas.openxmlformats.org/officeDocument/2006/relationships/notesSlide" Target="/ppt/notesSlides/notesSlide1.xml" Id="R1004b1c2f01f45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ba7bdee2184bd1" /><Relationship Type="http://schemas.openxmlformats.org/officeDocument/2006/relationships/notesSlide" Target="/ppt/notesSlides/notesSlide2.xml" Id="R1e221f558dd94c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d685925aa54b85" /><Relationship Type="http://schemas.openxmlformats.org/officeDocument/2006/relationships/chart" Target="/ppt/slides/charts/chart1.xml" Id="R4a050585bcd64bbb" /><Relationship Type="http://schemas.openxmlformats.org/officeDocument/2006/relationships/notesSlide" Target="/ppt/notesSlides/notesSlide3.xml" Id="R8f017c33cc614c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4c35d2742f4b60" /><Relationship Type="http://schemas.openxmlformats.org/officeDocument/2006/relationships/notesSlide" Target="/ppt/notesSlides/notesSlide4.xml" Id="R593a315f372440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3b56bf29104fe0" /><Relationship Type="http://schemas.openxmlformats.org/officeDocument/2006/relationships/chart" Target="/ppt/slides/charts/chart2.xml" Id="Raba2719147db4c39" /><Relationship Type="http://schemas.openxmlformats.org/officeDocument/2006/relationships/notesSlide" Target="/ppt/notesSlides/notesSlide5.xml" Id="R03234dc0ad5249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42a469cf9c45c4" /><Relationship Type="http://schemas.openxmlformats.org/officeDocument/2006/relationships/notesSlide" Target="/ppt/notesSlides/notesSlide6.xml" Id="Rfd8bd96f4e634d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251287422b4d6c" /><Relationship Type="http://schemas.openxmlformats.org/officeDocument/2006/relationships/chart" Target="/ppt/slides/charts/chart3.xml" Id="Rfca4114b2ccd447b" /><Relationship Type="http://schemas.openxmlformats.org/officeDocument/2006/relationships/notesSlide" Target="/ppt/notesSlides/notesSlide7.xml" Id="Reb911edf8ebd45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b6206c7b664864" /><Relationship Type="http://schemas.openxmlformats.org/officeDocument/2006/relationships/notesSlide" Target="/ppt/notesSlides/notesSlide8.xml" Id="R786302953c834a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4910cdb1064660" /><Relationship Type="http://schemas.openxmlformats.org/officeDocument/2006/relationships/notesSlide" Target="/ppt/notesSlides/notesSlide9.xml" Id="R09beb5370569499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ns1="http://schemas.openxmlformats.org/drawingml/2006/main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Missing records</c:v>
          </c:tx>
          <c:spPr>
            <ns1:solidFill>
              <ns1:srgbClr val="087F78"/>
            </ns1:solidFill>
          </c:spPr>
          <c:invertIfNegative val="0"/>
          <c:cat>
            <c:strRef>
              <c:f>'Chart Data'!$A$2:$A$5</c:f>
              <c:strCache>
                <c:ptCount val="4"/>
                <c:pt idx="0">
                  <c:v>Cholesterol</c:v>
                </c:pt>
                <c:pt idx="1">
                  <c:v>ST slope</c:v>
                </c:pt>
                <c:pt idx="2">
                  <c:v>Fasting sugar</c:v>
                </c:pt>
                <c:pt idx="3">
                  <c:v>Resting pressure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201</c:v>
                </c:pt>
                <c:pt idx="1">
                  <c:v>307</c:v>
                </c:pt>
                <c:pt idx="2">
                  <c:v>90</c:v>
                </c:pt>
                <c:pt idx="3">
                  <c:v>60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ns1:ln w="9525">
            <ns1:solidFill>
              <ns1:srgbClr val="D4D4D4"/>
            </ns1:solidFill>
            <ns1:prstDash val="solid"/>
          </ns1:ln>
        </c:spPr>
        <c:txPr>
          <ns1:bodyPr anchorCtr="1"/>
          <ns1:lstStyle/>
          <ns1:p>
            <ns1:pPr>
              <ns1:defRPr>
                <ns1:solidFill>
                  <ns1:srgbClr val="666666"/>
                </ns1:solidFill>
              </ns1:defRPr>
            </ns1:pPr>
          </ns1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ns1:ln w="9525">
            <ns1:solidFill>
              <ns1:srgbClr val="D4D4D4"/>
            </ns1:solidFill>
            <ns1:prstDash val="solid"/>
          </ns1:ln>
        </c:spPr>
        <c:txPr>
          <ns1:bodyPr anchorCtr="1"/>
          <ns1:lstStyle/>
          <ns1:p>
            <ns1:pPr>
              <ns1:defRPr>
                <ns1:solidFill>
                  <ns1:srgbClr val="666666"/>
                </ns1:solidFill>
              </ns1:defRPr>
            </ns1:pPr>
          </ns1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ns1="http://schemas.openxmlformats.org/drawingml/2006/main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Mean CV F1 (%)</c:v>
          </c:tx>
          <c:spPr>
            <ns1:solidFill>
              <ns1:srgbClr val="087F78"/>
            </ns1:solidFill>
          </c:spPr>
          <c:invertIfNegative val="0"/>
          <c:cat>
            <c:strRef>
              <c:f>'Chart Data'!$A$2:$A$6</c:f>
              <c:strCache>
                <c:ptCount val="5"/>
                <c:pt idx="0">
                  <c:v>LR</c:v>
                </c:pt>
                <c:pt idx="1">
                  <c:v>Random Forest</c:v>
                </c:pt>
                <c:pt idx="2">
                  <c:v>HGB</c:v>
                </c:pt>
                <c:pt idx="3">
                  <c:v>XGBoost</c:v>
                </c:pt>
                <c:pt idx="4">
                  <c:v>BN (provisional)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82.30883974615283</c:v>
                </c:pt>
                <c:pt idx="1">
                  <c:v>83.57547551075292</c:v>
                </c:pt>
                <c:pt idx="2">
                  <c:v>81.04353064904478</c:v>
                </c:pt>
                <c:pt idx="3">
                  <c:v>83.08103379873714</c:v>
                </c:pt>
                <c:pt idx="4">
                  <c:v>81.79300807255652</c:v>
                </c:pt>
              </c:numCache>
            </c:numRef>
          </c:val>
        </c:ser>
        <c:dLbls>
          <c:numFmt formatCode="0.00" sourceLinked="0"/>
          <c:txPr>
            <ns1:bodyPr anchorCtr="1"/>
            <ns1:lstStyle/>
            <ns1:p>
              <ns1:pPr>
                <ns1:defRPr sz="1500">
                  <ns1:solidFill>
                    <ns1:srgbClr val="102B3F"/>
                  </ns1:solidFill>
                  <ns1:latin typeface="Aptos"/>
                  <ns1:ea typeface="Aptos"/>
                  <ns1:cs typeface="Aptos"/>
                </ns1:defRPr>
              </ns1:pPr>
            </ns1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ns1:ln w="9525">
            <ns1:solidFill>
              <ns1:srgbClr val="D4D4D4"/>
            </ns1:solidFill>
            <ns1:prstDash val="solid"/>
          </ns1:ln>
        </c:spPr>
        <c:txPr>
          <ns1:bodyPr anchorCtr="1"/>
          <ns1:lstStyle/>
          <ns1:p>
            <ns1:pPr>
              <ns1:defRPr sz="1500">
                <ns1:solidFill>
                  <ns1:srgbClr val="666666"/>
                </ns1:solidFill>
                <ns1:latin typeface="Aptos"/>
                <ns1:ea typeface="Aptos"/>
                <ns1:cs typeface="Aptos"/>
              </ns1:defRPr>
            </ns1:pPr>
          </ns1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General"/>
        <c:majorTickMark val="none"/>
        <c:minorTickMark val="none"/>
        <c:spPr>
          <ns1:ln w="9525">
            <ns1:solidFill>
              <ns1:srgbClr val="D4D4D4"/>
            </ns1:solidFill>
            <ns1:prstDash val="solid"/>
          </ns1:ln>
        </c:spPr>
        <c:txPr>
          <ns1:bodyPr anchorCtr="1"/>
          <ns1:lstStyle/>
          <ns1:p>
            <ns1:pPr>
              <ns1:defRPr>
                <ns1:solidFill>
                  <ns1:srgbClr val="666666"/>
                </ns1:solidFill>
              </ns1:defRPr>
            </ns1:pPr>
          </ns1:p>
        </c:txPr>
        <c:crossAx val="48650112"/>
        <c:crossBetween val="between"/>
        <c:majorUnit val="20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ns1="http://schemas.openxmlformats.org/drawingml/2006/main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Selected model minus always-positive</c:v>
          </c:tx>
          <c:spPr>
            <ns1:solidFill>
              <ns1:srgbClr val="087F78"/>
            </ns1:solidFill>
          </c:spPr>
          <c:invertIfNegative val="0"/>
          <c:cat>
            <c:strRef>
              <c:f>'Chart Data'!$A$2:$A$5</c:f>
              <c:strCache>
                <c:ptCount val="4"/>
                <c:pt idx="0">
                  <c:v>Cleveland</c:v>
                </c:pt>
                <c:pt idx="1">
                  <c:v>Hungary</c:v>
                </c:pt>
                <c:pt idx="2">
                  <c:v>Switzerland</c:v>
                </c:pt>
                <c:pt idx="3">
                  <c:v>VA Long Beach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13.04075888668822</c:v>
                </c:pt>
                <c:pt idx="1">
                  <c:v>11.088911088911091</c:v>
                </c:pt>
                <c:pt idx="2">
                  <c:v>-8.53560949586557</c:v>
                </c:pt>
                <c:pt idx="3">
                  <c:v>-0.20409204551252724</c:v>
                </c:pt>
              </c:numCache>
            </c:numRef>
          </c:val>
        </c:ser>
        <c:dLbls>
          <c:numFmt formatCode="0.00" sourceLinked="0"/>
          <c:txPr>
            <ns1:bodyPr anchorCtr="1"/>
            <ns1:lstStyle/>
            <ns1:p>
              <ns1:pPr>
                <ns1:defRPr sz="1575">
                  <ns1:solidFill>
                    <ns1:srgbClr val="102B3F"/>
                  </ns1:solidFill>
                  <ns1:latin typeface="Aptos"/>
                  <ns1:ea typeface="Aptos"/>
                  <ns1:cs typeface="Aptos"/>
                </ns1:defRPr>
              </ns1:pPr>
            </ns1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ns1:ln w="9525">
            <ns1:solidFill>
              <ns1:srgbClr val="D4D4D4"/>
            </ns1:solidFill>
            <ns1:prstDash val="solid"/>
          </ns1:ln>
        </c:spPr>
        <c:txPr>
          <ns1:bodyPr anchorCtr="1"/>
          <ns1:lstStyle/>
          <ns1:p>
            <ns1:pPr>
              <ns1:defRPr sz="1425">
                <ns1:solidFill>
                  <ns1:srgbClr val="666666"/>
                </ns1:solidFill>
                <ns1:latin typeface="Aptos"/>
                <ns1:ea typeface="Aptos"/>
                <ns1:cs typeface="Aptos"/>
              </ns1:defRPr>
            </ns1:pPr>
          </ns1:p>
        </c:txPr>
        <c:crossAx val="48672768"/>
      </c:catAx>
      <c:valAx>
        <c:axId val="48672768"/>
        <c:scaling>
          <c:orientation val="minMax"/>
          <c:max val="20"/>
          <c:min val="-15"/>
        </c:scaling>
        <c:delete val="0"/>
        <c:axPos val="l"/>
        <c:numFmt formatCode="0"/>
        <c:majorTickMark val="none"/>
        <c:minorTickMark val="none"/>
        <c:spPr>
          <ns1:ln w="9525">
            <ns1:solidFill>
              <ns1:srgbClr val="D4D4D4"/>
            </ns1:solidFill>
            <ns1:prstDash val="solid"/>
          </ns1:ln>
        </c:spPr>
        <c:txPr>
          <ns1:bodyPr anchorCtr="1"/>
          <ns1:lstStyle/>
          <ns1:p>
            <ns1:pPr>
              <ns1:defRPr sz="1425">
                <ns1:solidFill>
                  <ns1:srgbClr val="666666"/>
                </ns1:solidFill>
                <ns1:latin typeface="Aptos"/>
                <ns1:ea typeface="Aptos"/>
                <ns1:cs typeface="Aptos"/>
              </ns1:defRPr>
            </ns1:pPr>
          </ns1:p>
        </c:txPr>
        <c:crossAx val="48650112"/>
        <c:crossBetween val="between"/>
        <c:majorUnit val="5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32229-617C-4E65-8A38-47A8B025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02B3F"/>
                </a:solidFill>
              </a:defRPr>
            </a:defPPr>
            <a:lvl1pPr>
              <a:buNone/>
              <a:defRPr sz="3150" b="1">
                <a:solidFill>
                  <a:srgbClr val="102B3F"/>
                </a:solidFill>
              </a:defRPr>
            </a:lvl1pPr>
            <a:lvl2pPr>
              <a:buNone/>
              <a:defRPr sz="3150" b="1">
                <a:solidFill>
                  <a:srgbClr val="102B3F"/>
                </a:solidFill>
              </a:defRPr>
            </a:lvl2pPr>
            <a:lvl3pPr>
              <a:buNone/>
              <a:defRPr sz="3150" b="1">
                <a:solidFill>
                  <a:srgbClr val="102B3F"/>
                </a:solidFill>
              </a:defRPr>
            </a:lvl3pPr>
            <a:lvl4pPr>
              <a:buNone/>
              <a:defRPr sz="3150" b="1">
                <a:solidFill>
                  <a:srgbClr val="102B3F"/>
                </a:solidFill>
              </a:defRPr>
            </a:lvl4pPr>
            <a:lvl5pPr>
              <a:buNone/>
              <a:defRPr sz="3150" b="1">
                <a:solidFill>
                  <a:srgbClr val="102B3F"/>
                </a:solidFill>
              </a:defRPr>
            </a:lvl5pPr>
            <a:lvl6pPr>
              <a:buNone/>
              <a:defRPr sz="3150" b="1">
                <a:solidFill>
                  <a:srgbClr val="102B3F"/>
                </a:solidFill>
              </a:defRPr>
            </a:lvl6pPr>
            <a:lvl7pPr>
              <a:buNone/>
              <a:defRPr sz="3150" b="1">
                <a:solidFill>
                  <a:srgbClr val="102B3F"/>
                </a:solidFill>
              </a:defRPr>
            </a:lvl7pPr>
            <a:lvl8pPr>
              <a:buNone/>
              <a:defRPr sz="3150" b="1">
                <a:solidFill>
                  <a:srgbClr val="102B3F"/>
                </a:solidFill>
              </a:defRPr>
            </a:lvl8pPr>
            <a:lvl9pPr>
              <a:buNone/>
              <a:defRPr sz="3150" b="1">
                <a:solidFill>
                  <a:srgbClr val="102B3F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02B3F"/>
                </a:solidFill>
              </a:defRPr>
            </a:pPr>
            <a:r>
              <a:rPr sz="3150" b="1">
                <a:solidFill>
                  <a:srgbClr val="102B3F"/>
                </a:solidFill>
              </a:rPr>
              <a:t>Project 15: Heart-Disease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E0E15-DC4D-48D9-8B51-2B05F6C2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674"/>
                </a:solidFill>
              </a:defRPr>
            </a:defPPr>
            <a:lvl1pPr>
              <a:buNone/>
              <a:defRPr sz="1125" b="0">
                <a:solidFill>
                  <a:srgbClr val="526674"/>
                </a:solidFill>
              </a:defRPr>
            </a:lvl1pPr>
            <a:lvl2pPr>
              <a:buNone/>
              <a:defRPr sz="1125" b="0">
                <a:solidFill>
                  <a:srgbClr val="526674"/>
                </a:solidFill>
              </a:defRPr>
            </a:lvl2pPr>
            <a:lvl3pPr>
              <a:buNone/>
              <a:defRPr sz="1125" b="0">
                <a:solidFill>
                  <a:srgbClr val="526674"/>
                </a:solidFill>
              </a:defRPr>
            </a:lvl3pPr>
            <a:lvl4pPr>
              <a:buNone/>
              <a:defRPr sz="1125" b="0">
                <a:solidFill>
                  <a:srgbClr val="526674"/>
                </a:solidFill>
              </a:defRPr>
            </a:lvl4pPr>
            <a:lvl5pPr>
              <a:buNone/>
              <a:defRPr sz="1125" b="0">
                <a:solidFill>
                  <a:srgbClr val="526674"/>
                </a:solidFill>
              </a:defRPr>
            </a:lvl5pPr>
            <a:lvl6pPr>
              <a:buNone/>
              <a:defRPr sz="1125" b="0">
                <a:solidFill>
                  <a:srgbClr val="526674"/>
                </a:solidFill>
              </a:defRPr>
            </a:lvl6pPr>
            <a:lvl7pPr>
              <a:buNone/>
              <a:defRPr sz="1125" b="0">
                <a:solidFill>
                  <a:srgbClr val="526674"/>
                </a:solidFill>
              </a:defRPr>
            </a:lvl7pPr>
            <a:lvl8pPr>
              <a:buNone/>
              <a:defRPr sz="1125" b="0">
                <a:solidFill>
                  <a:srgbClr val="526674"/>
                </a:solidFill>
              </a:defRPr>
            </a:lvl8pPr>
            <a:lvl9pPr>
              <a:buNone/>
              <a:defRPr sz="1125" b="0">
                <a:solidFill>
                  <a:srgbClr val="526674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674"/>
                </a:solidFill>
              </a:defRPr>
            </a:pPr>
            <a:r>
              <a:rPr sz="1125" b="0">
                <a:solidFill>
                  <a:srgbClr val="526674"/>
                </a:solidFill>
              </a:rPr>
              <a:t>1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3878D-02F4-4527-AA6D-A1584CF7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087F78"/>
                </a:solidFill>
              </a:defRPr>
            </a:defPPr>
            <a:lvl1pPr>
              <a:buNone/>
              <a:defRPr sz="2625" b="1">
                <a:solidFill>
                  <a:srgbClr val="087F78"/>
                </a:solidFill>
              </a:defRPr>
            </a:lvl1pPr>
            <a:lvl2pPr>
              <a:buNone/>
              <a:defRPr sz="2625" b="1">
                <a:solidFill>
                  <a:srgbClr val="087F78"/>
                </a:solidFill>
              </a:defRPr>
            </a:lvl2pPr>
            <a:lvl3pPr>
              <a:buNone/>
              <a:defRPr sz="2625" b="1">
                <a:solidFill>
                  <a:srgbClr val="087F78"/>
                </a:solidFill>
              </a:defRPr>
            </a:lvl3pPr>
            <a:lvl4pPr>
              <a:buNone/>
              <a:defRPr sz="2625" b="1">
                <a:solidFill>
                  <a:srgbClr val="087F78"/>
                </a:solidFill>
              </a:defRPr>
            </a:lvl4pPr>
            <a:lvl5pPr>
              <a:buNone/>
              <a:defRPr sz="2625" b="1">
                <a:solidFill>
                  <a:srgbClr val="087F78"/>
                </a:solidFill>
              </a:defRPr>
            </a:lvl5pPr>
            <a:lvl6pPr>
              <a:buNone/>
              <a:defRPr sz="2625" b="1">
                <a:solidFill>
                  <a:srgbClr val="087F78"/>
                </a:solidFill>
              </a:defRPr>
            </a:lvl6pPr>
            <a:lvl7pPr>
              <a:buNone/>
              <a:defRPr sz="2625" b="1">
                <a:solidFill>
                  <a:srgbClr val="087F78"/>
                </a:solidFill>
              </a:defRPr>
            </a:lvl7pPr>
            <a:lvl8pPr>
              <a:buNone/>
              <a:defRPr sz="2625" b="1">
                <a:solidFill>
                  <a:srgbClr val="087F78"/>
                </a:solidFill>
              </a:defRPr>
            </a:lvl8pPr>
            <a:lvl9pPr>
              <a:buNone/>
              <a:defRPr sz="2625" b="1">
                <a:solidFill>
                  <a:srgbClr val="087F78"/>
                </a:solidFill>
              </a:defRPr>
            </a:lvl9pPr>
          </a:lstStyle>
          <a:p xmlns:a="http://schemas.openxmlformats.org/drawingml/2006/main">
            <a:pPr>
              <a:buNone/>
              <a:defRPr sz="2625" b="1">
                <a:solidFill>
                  <a:srgbClr val="087F78"/>
                </a:solidFill>
              </a:defRPr>
            </a:pPr>
            <a:r>
              <a:rPr sz="2625" b="1">
                <a:solidFill>
                  <a:srgbClr val="087F78"/>
                </a:solidFill>
              </a:rPr>
              <a:t>Domain-Structured Bayesian Network</a:t>
            </a:r>
          </a:p>
          <a:p xmlns:a="http://schemas.openxmlformats.org/drawingml/2006/main">
            <a:pPr>
              <a:buNone/>
              <a:defRPr sz="2625" b="1">
                <a:solidFill>
                  <a:srgbClr val="087F78"/>
                </a:solidFill>
              </a:defRPr>
            </a:pPr>
            <a:r>
              <a:rPr sz="2625" b="1">
                <a:solidFill>
                  <a:srgbClr val="087F78"/>
                </a:solidFill>
              </a:rPr>
              <a:t>vs Neural Network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50C75-F207-48F8-8F0C-6302EB62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26674"/>
                </a:solidFill>
              </a:defRPr>
            </a:defPPr>
            <a:lvl1pPr>
              <a:buNone/>
              <a:defRPr sz="1875" b="0">
                <a:solidFill>
                  <a:srgbClr val="526674"/>
                </a:solidFill>
              </a:defRPr>
            </a:lvl1pPr>
            <a:lvl2pPr>
              <a:buNone/>
              <a:defRPr sz="1875" b="0">
                <a:solidFill>
                  <a:srgbClr val="526674"/>
                </a:solidFill>
              </a:defRPr>
            </a:lvl2pPr>
            <a:lvl3pPr>
              <a:buNone/>
              <a:defRPr sz="1875" b="0">
                <a:solidFill>
                  <a:srgbClr val="526674"/>
                </a:solidFill>
              </a:defRPr>
            </a:lvl3pPr>
            <a:lvl4pPr>
              <a:buNone/>
              <a:defRPr sz="1875" b="0">
                <a:solidFill>
                  <a:srgbClr val="526674"/>
                </a:solidFill>
              </a:defRPr>
            </a:lvl4pPr>
            <a:lvl5pPr>
              <a:buNone/>
              <a:defRPr sz="1875" b="0">
                <a:solidFill>
                  <a:srgbClr val="526674"/>
                </a:solidFill>
              </a:defRPr>
            </a:lvl5pPr>
            <a:lvl6pPr>
              <a:buNone/>
              <a:defRPr sz="1875" b="0">
                <a:solidFill>
                  <a:srgbClr val="526674"/>
                </a:solidFill>
              </a:defRPr>
            </a:lvl6pPr>
            <a:lvl7pPr>
              <a:buNone/>
              <a:defRPr sz="1875" b="0">
                <a:solidFill>
                  <a:srgbClr val="526674"/>
                </a:solidFill>
              </a:defRPr>
            </a:lvl7pPr>
            <a:lvl8pPr>
              <a:buNone/>
              <a:defRPr sz="1875" b="0">
                <a:solidFill>
                  <a:srgbClr val="526674"/>
                </a:solidFill>
              </a:defRPr>
            </a:lvl8pPr>
            <a:lvl9pPr>
              <a:buNone/>
              <a:defRPr sz="1875" b="0">
                <a:solidFill>
                  <a:srgbClr val="526674"/>
                </a:solidFill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674"/>
                </a:solidFill>
              </a:defRPr>
            </a:pPr>
            <a:r>
              <a:rPr sz="1575" b="0">
                <a:solidFill>
                  <a:srgbClr val="526674"/>
                </a:solidFill>
              </a:rPr>
              <a:t>Team T008, Section C | Newton School of Technology, Rishihood University</a:t>
            </a:r>
          </a:p>
          <a:p xmlns:a="http://schemas.openxmlformats.org/drawingml/2006/main">
            <a:pPr>
              <a:buNone/>
              <a:defRPr sz="1575" b="0">
                <a:solidFill>
                  <a:srgbClr val="526674"/>
                </a:solidFill>
              </a:defRPr>
            </a:pPr>
            <a:r>
              <a:rPr sz="1575" b="0">
                <a:solidFill>
                  <a:srgbClr val="526674"/>
                </a:solidFill>
              </a:rPr>
              <a:t>Nishtha Gupta (2401010303) | Aditya Srivastava (2401010039)</a:t>
            </a:r>
          </a:p>
          <a:p xmlns:a="http://schemas.openxmlformats.org/drawingml/2006/main">
            <a:pPr>
              <a:buNone/>
              <a:defRPr sz="1575" b="0">
                <a:solidFill>
                  <a:srgbClr val="526674"/>
                </a:solidFill>
              </a:defRPr>
            </a:pPr>
            <a:r>
              <a:rPr sz="1575" b="0">
                <a:solidFill>
                  <a:srgbClr val="526674"/>
                </a:solidFill>
              </a:rPr>
              <a:t>Aanya Mehrotra (2401010006) | Shrijan Sanidhya (2401010449)</a:t>
            </a:r>
          </a:p>
          <a:p xmlns:a="http://schemas.openxmlformats.org/drawingml/2006/main">
            <a:pPr>
              <a:buNone/>
              <a:defRPr sz="1575" b="0">
                <a:solidFill>
                  <a:srgbClr val="526674"/>
                </a:solidFill>
              </a:defRPr>
            </a:pPr>
            <a:r>
              <a:rPr sz="1575" b="0">
                <a:solidFill>
                  <a:srgbClr val="526674"/>
                </a:solidFill>
              </a:rPr>
              <a:t>Abhay Mallik (2401020002)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F5F9A-73A2-4B9A-A5F0-6AFE7359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526674"/>
                </a:solidFill>
              </a:defRPr>
            </a:defPPr>
            <a:lvl1pPr>
              <a:buNone/>
              <a:defRPr sz="1725" b="0">
                <a:solidFill>
                  <a:srgbClr val="526674"/>
                </a:solidFill>
              </a:defRPr>
            </a:lvl1pPr>
            <a:lvl2pPr>
              <a:buNone/>
              <a:defRPr sz="1725" b="0">
                <a:solidFill>
                  <a:srgbClr val="526674"/>
                </a:solidFill>
              </a:defRPr>
            </a:lvl2pPr>
            <a:lvl3pPr>
              <a:buNone/>
              <a:defRPr sz="1725" b="0">
                <a:solidFill>
                  <a:srgbClr val="526674"/>
                </a:solidFill>
              </a:defRPr>
            </a:lvl3pPr>
            <a:lvl4pPr>
              <a:buNone/>
              <a:defRPr sz="1725" b="0">
                <a:solidFill>
                  <a:srgbClr val="526674"/>
                </a:solidFill>
              </a:defRPr>
            </a:lvl4pPr>
            <a:lvl5pPr>
              <a:buNone/>
              <a:defRPr sz="1725" b="0">
                <a:solidFill>
                  <a:srgbClr val="526674"/>
                </a:solidFill>
              </a:defRPr>
            </a:lvl5pPr>
            <a:lvl6pPr>
              <a:buNone/>
              <a:defRPr sz="1725" b="0">
                <a:solidFill>
                  <a:srgbClr val="526674"/>
                </a:solidFill>
              </a:defRPr>
            </a:lvl6pPr>
            <a:lvl7pPr>
              <a:buNone/>
              <a:defRPr sz="1725" b="0">
                <a:solidFill>
                  <a:srgbClr val="526674"/>
                </a:solidFill>
              </a:defRPr>
            </a:lvl7pPr>
            <a:lvl8pPr>
              <a:buNone/>
              <a:defRPr sz="1725" b="0">
                <a:solidFill>
                  <a:srgbClr val="526674"/>
                </a:solidFill>
              </a:defRPr>
            </a:lvl8pPr>
            <a:lvl9pPr>
              <a:buNone/>
              <a:defRPr sz="1725" b="0">
                <a:solidFill>
                  <a:srgbClr val="526674"/>
                </a:solidFill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26674"/>
                </a:solidFill>
              </a:defRPr>
            </a:pPr>
            <a:r>
              <a:rPr sz="1725" b="0">
                <a:solidFill>
                  <a:srgbClr val="526674"/>
                </a:solidFill>
              </a:rPr>
              <a:t>Phase 1: four conventional classifiers and a provisional BN</a:t>
            </a:r>
          </a:p>
          <a:p xmlns:a="http://schemas.openxmlformats.org/drawingml/2006/main">
            <a:pPr>
              <a:buNone/>
              <a:defRPr sz="1725" b="0">
                <a:solidFill>
                  <a:srgbClr val="526674"/>
                </a:solidFill>
              </a:defRPr>
            </a:pPr>
            <a:r>
              <a:rPr sz="1725" b="0">
                <a:solidFill>
                  <a:srgbClr val="526674"/>
                </a:solidFill>
              </a:rPr>
              <a:t>Neural-network implementation belongs to Phase 2</a:t>
            </a:r>
          </a:p>
        </p:txBody>
      </p:sp>
    </p:spTree>
    <p:extLst>
      <p:ext uri="{BB962C8B-B14F-4D97-AF65-F5344CB8AC3E}">
        <p14:creationId xmlns:p14="http://schemas.microsoft.com/office/powerpoint/2010/main" val="17504717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C3147-8454-4AE7-9BE6-3E34CBC4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02B3F"/>
                </a:solidFill>
              </a:defRPr>
            </a:defPPr>
            <a:lvl1pPr>
              <a:buNone/>
              <a:defRPr sz="3150" b="1">
                <a:solidFill>
                  <a:srgbClr val="102B3F"/>
                </a:solidFill>
              </a:defRPr>
            </a:lvl1pPr>
            <a:lvl2pPr>
              <a:buNone/>
              <a:defRPr sz="3150" b="1">
                <a:solidFill>
                  <a:srgbClr val="102B3F"/>
                </a:solidFill>
              </a:defRPr>
            </a:lvl2pPr>
            <a:lvl3pPr>
              <a:buNone/>
              <a:defRPr sz="3150" b="1">
                <a:solidFill>
                  <a:srgbClr val="102B3F"/>
                </a:solidFill>
              </a:defRPr>
            </a:lvl3pPr>
            <a:lvl4pPr>
              <a:buNone/>
              <a:defRPr sz="3150" b="1">
                <a:solidFill>
                  <a:srgbClr val="102B3F"/>
                </a:solidFill>
              </a:defRPr>
            </a:lvl4pPr>
            <a:lvl5pPr>
              <a:buNone/>
              <a:defRPr sz="3150" b="1">
                <a:solidFill>
                  <a:srgbClr val="102B3F"/>
                </a:solidFill>
              </a:defRPr>
            </a:lvl5pPr>
            <a:lvl6pPr>
              <a:buNone/>
              <a:defRPr sz="3150" b="1">
                <a:solidFill>
                  <a:srgbClr val="102B3F"/>
                </a:solidFill>
              </a:defRPr>
            </a:lvl6pPr>
            <a:lvl7pPr>
              <a:buNone/>
              <a:defRPr sz="3150" b="1">
                <a:solidFill>
                  <a:srgbClr val="102B3F"/>
                </a:solidFill>
              </a:defRPr>
            </a:lvl7pPr>
            <a:lvl8pPr>
              <a:buNone/>
              <a:defRPr sz="3150" b="1">
                <a:solidFill>
                  <a:srgbClr val="102B3F"/>
                </a:solidFill>
              </a:defRPr>
            </a:lvl8pPr>
            <a:lvl9pPr>
              <a:buNone/>
              <a:defRPr sz="3150" b="1">
                <a:solidFill>
                  <a:srgbClr val="102B3F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02B3F"/>
                </a:solidFill>
              </a:defRPr>
            </a:pPr>
            <a:r>
              <a:rPr sz="3150" b="1">
                <a:solidFill>
                  <a:srgbClr val="102B3F"/>
                </a:solidFill>
              </a:rPr>
              <a:t>Research question and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C6EC1-E280-4DCA-B3DA-73BD90F1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674"/>
                </a:solidFill>
              </a:defRPr>
            </a:defPPr>
            <a:lvl1pPr>
              <a:buNone/>
              <a:defRPr sz="1125" b="0">
                <a:solidFill>
                  <a:srgbClr val="526674"/>
                </a:solidFill>
              </a:defRPr>
            </a:lvl1pPr>
            <a:lvl2pPr>
              <a:buNone/>
              <a:defRPr sz="1125" b="0">
                <a:solidFill>
                  <a:srgbClr val="526674"/>
                </a:solidFill>
              </a:defRPr>
            </a:lvl2pPr>
            <a:lvl3pPr>
              <a:buNone/>
              <a:defRPr sz="1125" b="0">
                <a:solidFill>
                  <a:srgbClr val="526674"/>
                </a:solidFill>
              </a:defRPr>
            </a:lvl3pPr>
            <a:lvl4pPr>
              <a:buNone/>
              <a:defRPr sz="1125" b="0">
                <a:solidFill>
                  <a:srgbClr val="526674"/>
                </a:solidFill>
              </a:defRPr>
            </a:lvl4pPr>
            <a:lvl5pPr>
              <a:buNone/>
              <a:defRPr sz="1125" b="0">
                <a:solidFill>
                  <a:srgbClr val="526674"/>
                </a:solidFill>
              </a:defRPr>
            </a:lvl5pPr>
            <a:lvl6pPr>
              <a:buNone/>
              <a:defRPr sz="1125" b="0">
                <a:solidFill>
                  <a:srgbClr val="526674"/>
                </a:solidFill>
              </a:defRPr>
            </a:lvl6pPr>
            <a:lvl7pPr>
              <a:buNone/>
              <a:defRPr sz="1125" b="0">
                <a:solidFill>
                  <a:srgbClr val="526674"/>
                </a:solidFill>
              </a:defRPr>
            </a:lvl7pPr>
            <a:lvl8pPr>
              <a:buNone/>
              <a:defRPr sz="1125" b="0">
                <a:solidFill>
                  <a:srgbClr val="526674"/>
                </a:solidFill>
              </a:defRPr>
            </a:lvl8pPr>
            <a:lvl9pPr>
              <a:buNone/>
              <a:defRPr sz="1125" b="0">
                <a:solidFill>
                  <a:srgbClr val="526674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674"/>
                </a:solidFill>
              </a:defRPr>
            </a:pPr>
            <a:r>
              <a:rPr sz="1125" b="0">
                <a:solidFill>
                  <a:srgbClr val="526674"/>
                </a:solidFill>
              </a:rPr>
              <a:t>2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C7FCC-6DE4-447E-85DF-303A45F4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674"/>
                </a:solidFill>
              </a:defRPr>
            </a:defPPr>
            <a:lvl1pPr>
              <a:buNone/>
              <a:defRPr sz="1125" b="0">
                <a:solidFill>
                  <a:srgbClr val="526674"/>
                </a:solidFill>
              </a:defRPr>
            </a:lvl1pPr>
            <a:lvl2pPr>
              <a:buNone/>
              <a:defRPr sz="1125" b="0">
                <a:solidFill>
                  <a:srgbClr val="526674"/>
                </a:solidFill>
              </a:defRPr>
            </a:lvl2pPr>
            <a:lvl3pPr>
              <a:buNone/>
              <a:defRPr sz="1125" b="0">
                <a:solidFill>
                  <a:srgbClr val="526674"/>
                </a:solidFill>
              </a:defRPr>
            </a:lvl3pPr>
            <a:lvl4pPr>
              <a:buNone/>
              <a:defRPr sz="1125" b="0">
                <a:solidFill>
                  <a:srgbClr val="526674"/>
                </a:solidFill>
              </a:defRPr>
            </a:lvl4pPr>
            <a:lvl5pPr>
              <a:buNone/>
              <a:defRPr sz="1125" b="0">
                <a:solidFill>
                  <a:srgbClr val="526674"/>
                </a:solidFill>
              </a:defRPr>
            </a:lvl5pPr>
            <a:lvl6pPr>
              <a:buNone/>
              <a:defRPr sz="1125" b="0">
                <a:solidFill>
                  <a:srgbClr val="526674"/>
                </a:solidFill>
              </a:defRPr>
            </a:lvl6pPr>
            <a:lvl7pPr>
              <a:buNone/>
              <a:defRPr sz="1125" b="0">
                <a:solidFill>
                  <a:srgbClr val="526674"/>
                </a:solidFill>
              </a:defRPr>
            </a:lvl7pPr>
            <a:lvl8pPr>
              <a:buNone/>
              <a:defRPr sz="1125" b="0">
                <a:solidFill>
                  <a:srgbClr val="526674"/>
                </a:solidFill>
              </a:defRPr>
            </a:lvl8pPr>
            <a:lvl9pPr>
              <a:buNone/>
              <a:defRPr sz="1125" b="0">
                <a:solidFill>
                  <a:srgbClr val="526674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674"/>
                </a:solidFill>
              </a:defRPr>
            </a:pPr>
            <a:r>
              <a:rPr sz="1125" b="0">
                <a:solidFill>
                  <a:srgbClr val="526674"/>
                </a:solidFill>
              </a:rPr>
              <a:t>Source: official UCI processed files checked; exact acquisition/merge history remains incomplete.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771EA-4DBC-423C-A598-1EA40685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087F78"/>
                </a:solidFill>
              </a:defRPr>
            </a:defPPr>
            <a:lvl1pPr>
              <a:buNone/>
              <a:defRPr sz="2025" b="1">
                <a:solidFill>
                  <a:srgbClr val="087F78"/>
                </a:solidFill>
              </a:defRPr>
            </a:lvl1pPr>
            <a:lvl2pPr>
              <a:buNone/>
              <a:defRPr sz="2025" b="1">
                <a:solidFill>
                  <a:srgbClr val="087F78"/>
                </a:solidFill>
              </a:defRPr>
            </a:lvl2pPr>
            <a:lvl3pPr>
              <a:buNone/>
              <a:defRPr sz="2025" b="1">
                <a:solidFill>
                  <a:srgbClr val="087F78"/>
                </a:solidFill>
              </a:defRPr>
            </a:lvl3pPr>
            <a:lvl4pPr>
              <a:buNone/>
              <a:defRPr sz="2025" b="1">
                <a:solidFill>
                  <a:srgbClr val="087F78"/>
                </a:solidFill>
              </a:defRPr>
            </a:lvl4pPr>
            <a:lvl5pPr>
              <a:buNone/>
              <a:defRPr sz="2025" b="1">
                <a:solidFill>
                  <a:srgbClr val="087F78"/>
                </a:solidFill>
              </a:defRPr>
            </a:lvl5pPr>
            <a:lvl6pPr>
              <a:buNone/>
              <a:defRPr sz="2025" b="1">
                <a:solidFill>
                  <a:srgbClr val="087F78"/>
                </a:solidFill>
              </a:defRPr>
            </a:lvl6pPr>
            <a:lvl7pPr>
              <a:buNone/>
              <a:defRPr sz="2025" b="1">
                <a:solidFill>
                  <a:srgbClr val="087F78"/>
                </a:solidFill>
              </a:defRPr>
            </a:lvl7pPr>
            <a:lvl8pPr>
              <a:buNone/>
              <a:defRPr sz="2025" b="1">
                <a:solidFill>
                  <a:srgbClr val="087F78"/>
                </a:solidFill>
              </a:defRPr>
            </a:lvl8pPr>
            <a:lvl9pPr>
              <a:buNone/>
              <a:defRPr sz="2025" b="1">
                <a:solidFill>
                  <a:srgbClr val="087F78"/>
                </a:solidFill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87F78"/>
                </a:solidFill>
              </a:defRPr>
            </a:pPr>
            <a:r>
              <a:rPr sz="2025" b="1">
                <a:solidFill>
                  <a:srgbClr val="087F78"/>
                </a:solidFill>
              </a:rPr>
              <a:t>How does a provisional BN compare with four ML baselines?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A77FB-6C64-467B-BBD5-6C429E44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3F"/>
                </a:solidFill>
              </a:defRPr>
            </a:defPPr>
            <a:lvl1pPr>
              <a:buNone/>
              <a:defRPr sz="2025" b="0">
                <a:solidFill>
                  <a:srgbClr val="102B3F"/>
                </a:solidFill>
              </a:defRPr>
            </a:lvl1pPr>
            <a:lvl2pPr>
              <a:buNone/>
              <a:defRPr sz="2025" b="0">
                <a:solidFill>
                  <a:srgbClr val="102B3F"/>
                </a:solidFill>
              </a:defRPr>
            </a:lvl2pPr>
            <a:lvl3pPr>
              <a:buNone/>
              <a:defRPr sz="2025" b="0">
                <a:solidFill>
                  <a:srgbClr val="102B3F"/>
                </a:solidFill>
              </a:defRPr>
            </a:lvl3pPr>
            <a:lvl4pPr>
              <a:buNone/>
              <a:defRPr sz="2025" b="0">
                <a:solidFill>
                  <a:srgbClr val="102B3F"/>
                </a:solidFill>
              </a:defRPr>
            </a:lvl4pPr>
            <a:lvl5pPr>
              <a:buNone/>
              <a:defRPr sz="2025" b="0">
                <a:solidFill>
                  <a:srgbClr val="102B3F"/>
                </a:solidFill>
              </a:defRPr>
            </a:lvl5pPr>
            <a:lvl6pPr>
              <a:buNone/>
              <a:defRPr sz="2025" b="0">
                <a:solidFill>
                  <a:srgbClr val="102B3F"/>
                </a:solidFill>
              </a:defRPr>
            </a:lvl6pPr>
            <a:lvl7pPr>
              <a:buNone/>
              <a:defRPr sz="2025" b="0">
                <a:solidFill>
                  <a:srgbClr val="102B3F"/>
                </a:solidFill>
              </a:defRPr>
            </a:lvl7pPr>
            <a:lvl8pPr>
              <a:buNone/>
              <a:defRPr sz="2025" b="0">
                <a:solidFill>
                  <a:srgbClr val="102B3F"/>
                </a:solidFill>
              </a:defRPr>
            </a:lvl8pPr>
            <a:lvl9pPr>
              <a:buNone/>
              <a:defRPr sz="2025" b="0">
                <a:solidFill>
                  <a:srgbClr val="102B3F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02B3F"/>
                </a:solidFill>
              </a:defRPr>
            </a:pPr>
            <a:r>
              <a:rPr sz="1950" b="0">
                <a:solidFill>
                  <a:srgbClr val="102B3F"/>
                </a:solidFill>
              </a:rPr>
              <a:t>920 rows; 918 after deduplication; 508 positive / 410 negative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57286-AE8A-4500-B18A-102D8B82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3F"/>
                </a:solidFill>
              </a:defRPr>
            </a:defPPr>
            <a:lvl1pPr>
              <a:buNone/>
              <a:defRPr sz="2025" b="0">
                <a:solidFill>
                  <a:srgbClr val="102B3F"/>
                </a:solidFill>
              </a:defRPr>
            </a:lvl1pPr>
            <a:lvl2pPr>
              <a:buNone/>
              <a:defRPr sz="2025" b="0">
                <a:solidFill>
                  <a:srgbClr val="102B3F"/>
                </a:solidFill>
              </a:defRPr>
            </a:lvl2pPr>
            <a:lvl3pPr>
              <a:buNone/>
              <a:defRPr sz="2025" b="0">
                <a:solidFill>
                  <a:srgbClr val="102B3F"/>
                </a:solidFill>
              </a:defRPr>
            </a:lvl3pPr>
            <a:lvl4pPr>
              <a:buNone/>
              <a:defRPr sz="2025" b="0">
                <a:solidFill>
                  <a:srgbClr val="102B3F"/>
                </a:solidFill>
              </a:defRPr>
            </a:lvl4pPr>
            <a:lvl5pPr>
              <a:buNone/>
              <a:defRPr sz="2025" b="0">
                <a:solidFill>
                  <a:srgbClr val="102B3F"/>
                </a:solidFill>
              </a:defRPr>
            </a:lvl5pPr>
            <a:lvl6pPr>
              <a:buNone/>
              <a:defRPr sz="2025" b="0">
                <a:solidFill>
                  <a:srgbClr val="102B3F"/>
                </a:solidFill>
              </a:defRPr>
            </a:lvl6pPr>
            <a:lvl7pPr>
              <a:buNone/>
              <a:defRPr sz="2025" b="0">
                <a:solidFill>
                  <a:srgbClr val="102B3F"/>
                </a:solidFill>
              </a:defRPr>
            </a:lvl7pPr>
            <a:lvl8pPr>
              <a:buNone/>
              <a:defRPr sz="2025" b="0">
                <a:solidFill>
                  <a:srgbClr val="102B3F"/>
                </a:solidFill>
              </a:defRPr>
            </a:lvl8pPr>
            <a:lvl9pPr>
              <a:buNone/>
              <a:defRPr sz="2025" b="0">
                <a:solidFill>
                  <a:srgbClr val="102B3F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02B3F"/>
                </a:solidFill>
              </a:defRPr>
            </a:pPr>
            <a:r>
              <a:rPr sz="1950" b="0">
                <a:solidFill>
                  <a:srgbClr val="102B3F"/>
                </a:solidFill>
              </a:rPr>
              <a:t>ID 304: local Cleveland label differs from its official Hungarian match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D33C6-291A-4601-8140-0993ABEB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3F"/>
                </a:solidFill>
              </a:defRPr>
            </a:defPPr>
            <a:lvl1pPr>
              <a:buNone/>
              <a:defRPr sz="2025" b="0">
                <a:solidFill>
                  <a:srgbClr val="102B3F"/>
                </a:solidFill>
              </a:defRPr>
            </a:lvl1pPr>
            <a:lvl2pPr>
              <a:buNone/>
              <a:defRPr sz="2025" b="0">
                <a:solidFill>
                  <a:srgbClr val="102B3F"/>
                </a:solidFill>
              </a:defRPr>
            </a:lvl2pPr>
            <a:lvl3pPr>
              <a:buNone/>
              <a:defRPr sz="2025" b="0">
                <a:solidFill>
                  <a:srgbClr val="102B3F"/>
                </a:solidFill>
              </a:defRPr>
            </a:lvl3pPr>
            <a:lvl4pPr>
              <a:buNone/>
              <a:defRPr sz="2025" b="0">
                <a:solidFill>
                  <a:srgbClr val="102B3F"/>
                </a:solidFill>
              </a:defRPr>
            </a:lvl4pPr>
            <a:lvl5pPr>
              <a:buNone/>
              <a:defRPr sz="2025" b="0">
                <a:solidFill>
                  <a:srgbClr val="102B3F"/>
                </a:solidFill>
              </a:defRPr>
            </a:lvl5pPr>
            <a:lvl6pPr>
              <a:buNone/>
              <a:defRPr sz="2025" b="0">
                <a:solidFill>
                  <a:srgbClr val="102B3F"/>
                </a:solidFill>
              </a:defRPr>
            </a:lvl6pPr>
            <a:lvl7pPr>
              <a:buNone/>
              <a:defRPr sz="2025" b="0">
                <a:solidFill>
                  <a:srgbClr val="102B3F"/>
                </a:solidFill>
              </a:defRPr>
            </a:lvl7pPr>
            <a:lvl8pPr>
              <a:buNone/>
              <a:defRPr sz="2025" b="0">
                <a:solidFill>
                  <a:srgbClr val="102B3F"/>
                </a:solidFill>
              </a:defRPr>
            </a:lvl8pPr>
            <a:lvl9pPr>
              <a:buNone/>
              <a:defRPr sz="2025" b="0">
                <a:solidFill>
                  <a:srgbClr val="102B3F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02B3F"/>
                </a:solidFill>
              </a:defRPr>
            </a:pPr>
            <a:r>
              <a:rPr sz="1950" b="0">
                <a:solidFill>
                  <a:srgbClr val="102B3F"/>
                </a:solidFill>
              </a:rPr>
              <a:t>Target num &gt; 0; 11 predictors. ID, hospital and target excluded</a:t>
            </a:r>
          </a:p>
        </p:txBody>
      </p:sp>
    </p:spTree>
    <p:extLst>
      <p:ext uri="{BB962C8B-B14F-4D97-AF65-F5344CB8AC3E}">
        <p14:creationId xmlns:p14="http://schemas.microsoft.com/office/powerpoint/2010/main" val="17150720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4547D-345C-4C42-9A30-18601260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02B3F"/>
                </a:solidFill>
              </a:defRPr>
            </a:defPPr>
            <a:lvl1pPr>
              <a:buNone/>
              <a:defRPr sz="3150" b="1">
                <a:solidFill>
                  <a:srgbClr val="102B3F"/>
                </a:solidFill>
              </a:defRPr>
            </a:lvl1pPr>
            <a:lvl2pPr>
              <a:buNone/>
              <a:defRPr sz="3150" b="1">
                <a:solidFill>
                  <a:srgbClr val="102B3F"/>
                </a:solidFill>
              </a:defRPr>
            </a:lvl2pPr>
            <a:lvl3pPr>
              <a:buNone/>
              <a:defRPr sz="3150" b="1">
                <a:solidFill>
                  <a:srgbClr val="102B3F"/>
                </a:solidFill>
              </a:defRPr>
            </a:lvl3pPr>
            <a:lvl4pPr>
              <a:buNone/>
              <a:defRPr sz="3150" b="1">
                <a:solidFill>
                  <a:srgbClr val="102B3F"/>
                </a:solidFill>
              </a:defRPr>
            </a:lvl4pPr>
            <a:lvl5pPr>
              <a:buNone/>
              <a:defRPr sz="3150" b="1">
                <a:solidFill>
                  <a:srgbClr val="102B3F"/>
                </a:solidFill>
              </a:defRPr>
            </a:lvl5pPr>
            <a:lvl6pPr>
              <a:buNone/>
              <a:defRPr sz="3150" b="1">
                <a:solidFill>
                  <a:srgbClr val="102B3F"/>
                </a:solidFill>
              </a:defRPr>
            </a:lvl6pPr>
            <a:lvl7pPr>
              <a:buNone/>
              <a:defRPr sz="3150" b="1">
                <a:solidFill>
                  <a:srgbClr val="102B3F"/>
                </a:solidFill>
              </a:defRPr>
            </a:lvl7pPr>
            <a:lvl8pPr>
              <a:buNone/>
              <a:defRPr sz="3150" b="1">
                <a:solidFill>
                  <a:srgbClr val="102B3F"/>
                </a:solidFill>
              </a:defRPr>
            </a:lvl8pPr>
            <a:lvl9pPr>
              <a:buNone/>
              <a:defRPr sz="3150" b="1">
                <a:solidFill>
                  <a:srgbClr val="102B3F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02B3F"/>
                </a:solidFill>
              </a:defRPr>
            </a:pPr>
            <a:r>
              <a:rPr sz="3150" b="1">
                <a:solidFill>
                  <a:srgbClr val="102B3F"/>
                </a:solidFill>
              </a:rPr>
              <a:t>Data quality and missingness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55772-7E67-4DBD-9D58-9D9982A5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674"/>
                </a:solidFill>
              </a:defRPr>
            </a:defPPr>
            <a:lvl1pPr>
              <a:buNone/>
              <a:defRPr sz="1125" b="0">
                <a:solidFill>
                  <a:srgbClr val="526674"/>
                </a:solidFill>
              </a:defRPr>
            </a:lvl1pPr>
            <a:lvl2pPr>
              <a:buNone/>
              <a:defRPr sz="1125" b="0">
                <a:solidFill>
                  <a:srgbClr val="526674"/>
                </a:solidFill>
              </a:defRPr>
            </a:lvl2pPr>
            <a:lvl3pPr>
              <a:buNone/>
              <a:defRPr sz="1125" b="0">
                <a:solidFill>
                  <a:srgbClr val="526674"/>
                </a:solidFill>
              </a:defRPr>
            </a:lvl3pPr>
            <a:lvl4pPr>
              <a:buNone/>
              <a:defRPr sz="1125" b="0">
                <a:solidFill>
                  <a:srgbClr val="526674"/>
                </a:solidFill>
              </a:defRPr>
            </a:lvl4pPr>
            <a:lvl5pPr>
              <a:buNone/>
              <a:defRPr sz="1125" b="0">
                <a:solidFill>
                  <a:srgbClr val="526674"/>
                </a:solidFill>
              </a:defRPr>
            </a:lvl5pPr>
            <a:lvl6pPr>
              <a:buNone/>
              <a:defRPr sz="1125" b="0">
                <a:solidFill>
                  <a:srgbClr val="526674"/>
                </a:solidFill>
              </a:defRPr>
            </a:lvl6pPr>
            <a:lvl7pPr>
              <a:buNone/>
              <a:defRPr sz="1125" b="0">
                <a:solidFill>
                  <a:srgbClr val="526674"/>
                </a:solidFill>
              </a:defRPr>
            </a:lvl7pPr>
            <a:lvl8pPr>
              <a:buNone/>
              <a:defRPr sz="1125" b="0">
                <a:solidFill>
                  <a:srgbClr val="526674"/>
                </a:solidFill>
              </a:defRPr>
            </a:lvl8pPr>
            <a:lvl9pPr>
              <a:buNone/>
              <a:defRPr sz="1125" b="0">
                <a:solidFill>
                  <a:srgbClr val="526674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674"/>
                </a:solidFill>
              </a:defRPr>
            </a:pPr>
            <a:r>
              <a:rPr sz="1125" b="0">
                <a:solidFill>
                  <a:srgbClr val="526674"/>
                </a:solidFill>
              </a:rPr>
              <a:t>3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ABEED-5794-4256-B47A-FEE059BD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674"/>
                </a:solidFill>
              </a:defRPr>
            </a:defPPr>
            <a:lvl1pPr>
              <a:buNone/>
              <a:defRPr sz="1125" b="0">
                <a:solidFill>
                  <a:srgbClr val="526674"/>
                </a:solidFill>
              </a:defRPr>
            </a:lvl1pPr>
            <a:lvl2pPr>
              <a:buNone/>
              <a:defRPr sz="1125" b="0">
                <a:solidFill>
                  <a:srgbClr val="526674"/>
                </a:solidFill>
              </a:defRPr>
            </a:lvl2pPr>
            <a:lvl3pPr>
              <a:buNone/>
              <a:defRPr sz="1125" b="0">
                <a:solidFill>
                  <a:srgbClr val="526674"/>
                </a:solidFill>
              </a:defRPr>
            </a:lvl3pPr>
            <a:lvl4pPr>
              <a:buNone/>
              <a:defRPr sz="1125" b="0">
                <a:solidFill>
                  <a:srgbClr val="526674"/>
                </a:solidFill>
              </a:defRPr>
            </a:lvl4pPr>
            <a:lvl5pPr>
              <a:buNone/>
              <a:defRPr sz="1125" b="0">
                <a:solidFill>
                  <a:srgbClr val="526674"/>
                </a:solidFill>
              </a:defRPr>
            </a:lvl5pPr>
            <a:lvl6pPr>
              <a:buNone/>
              <a:defRPr sz="1125" b="0">
                <a:solidFill>
                  <a:srgbClr val="526674"/>
                </a:solidFill>
              </a:defRPr>
            </a:lvl6pPr>
            <a:lvl7pPr>
              <a:buNone/>
              <a:defRPr sz="1125" b="0">
                <a:solidFill>
                  <a:srgbClr val="526674"/>
                </a:solidFill>
              </a:defRPr>
            </a:lvl7pPr>
            <a:lvl8pPr>
              <a:buNone/>
              <a:defRPr sz="1125" b="0">
                <a:solidFill>
                  <a:srgbClr val="526674"/>
                </a:solidFill>
              </a:defRPr>
            </a:lvl8pPr>
            <a:lvl9pPr>
              <a:buNone/>
              <a:defRPr sz="1125" b="0">
                <a:solidFill>
                  <a:srgbClr val="526674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674"/>
                </a:solidFill>
              </a:defRPr>
            </a:pPr>
            <a:r>
              <a:rPr sz="1125" b="0">
                <a:solidFill>
                  <a:srgbClr val="526674"/>
                </a:solidFill>
              </a:rPr>
              <a:t>Counts after zero cleaning, N=918. Full missingness and provenance: report and README.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346BE01-38F2-4548-968F-E70A3280AC88}"/>
              </a:ext>
            </a:extLst>
          </p:cNvPr>
          <p:cNvGraphicFramePr/>
          <p:nvPr/>
        </p:nvGraphicFramePr>
        <p:xfrm>
          <a:off xmlns:a="http://schemas.openxmlformats.org/drawingml/2006/main" x="952500" y="1714500"/>
          <a:ext xmlns:a="http://schemas.openxmlformats.org/drawingml/2006/main" cx="9906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050585bcd64bb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DFE45-1FDC-4997-9645-0EA8C395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526674"/>
                </a:solidFill>
              </a:defRPr>
            </a:defPPr>
            <a:lvl1pPr>
              <a:buNone/>
              <a:defRPr sz="1725" b="0">
                <a:solidFill>
                  <a:srgbClr val="526674"/>
                </a:solidFill>
              </a:defRPr>
            </a:lvl1pPr>
            <a:lvl2pPr>
              <a:buNone/>
              <a:defRPr sz="1725" b="0">
                <a:solidFill>
                  <a:srgbClr val="526674"/>
                </a:solidFill>
              </a:defRPr>
            </a:lvl2pPr>
            <a:lvl3pPr>
              <a:buNone/>
              <a:defRPr sz="1725" b="0">
                <a:solidFill>
                  <a:srgbClr val="526674"/>
                </a:solidFill>
              </a:defRPr>
            </a:lvl3pPr>
            <a:lvl4pPr>
              <a:buNone/>
              <a:defRPr sz="1725" b="0">
                <a:solidFill>
                  <a:srgbClr val="526674"/>
                </a:solidFill>
              </a:defRPr>
            </a:lvl4pPr>
            <a:lvl5pPr>
              <a:buNone/>
              <a:defRPr sz="1725" b="0">
                <a:solidFill>
                  <a:srgbClr val="526674"/>
                </a:solidFill>
              </a:defRPr>
            </a:lvl5pPr>
            <a:lvl6pPr>
              <a:buNone/>
              <a:defRPr sz="1725" b="0">
                <a:solidFill>
                  <a:srgbClr val="526674"/>
                </a:solidFill>
              </a:defRPr>
            </a:lvl6pPr>
            <a:lvl7pPr>
              <a:buNone/>
              <a:defRPr sz="1725" b="0">
                <a:solidFill>
                  <a:srgbClr val="526674"/>
                </a:solidFill>
              </a:defRPr>
            </a:lvl7pPr>
            <a:lvl8pPr>
              <a:buNone/>
              <a:defRPr sz="1725" b="0">
                <a:solidFill>
                  <a:srgbClr val="526674"/>
                </a:solidFill>
              </a:defRPr>
            </a:lvl8pPr>
            <a:lvl9pPr>
              <a:buNone/>
              <a:defRPr sz="1725" b="0">
                <a:solidFill>
                  <a:srgbClr val="526674"/>
                </a:solidFill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26674"/>
                </a:solidFill>
              </a:defRPr>
            </a:pPr>
            <a:r>
              <a:rPr sz="1725" b="0">
                <a:solidFill>
                  <a:srgbClr val="526674"/>
                </a:solidFill>
              </a:rPr>
              <a:t>Conventional preprocessing fits medians, modes, encoding and scaling inside each training fold.</a:t>
            </a:r>
          </a:p>
        </p:txBody>
      </p:sp>
    </p:spTree>
    <p:extLst>
      <p:ext uri="{BB962C8B-B14F-4D97-AF65-F5344CB8AC3E}">
        <p14:creationId xmlns:p14="http://schemas.microsoft.com/office/powerpoint/2010/main" val="14427119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4104E-833F-4F2C-B629-1530783E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02B3F"/>
                </a:solidFill>
              </a:defRPr>
            </a:defPPr>
            <a:lvl1pPr>
              <a:buNone/>
              <a:defRPr sz="3150" b="1">
                <a:solidFill>
                  <a:srgbClr val="102B3F"/>
                </a:solidFill>
              </a:defRPr>
            </a:lvl1pPr>
            <a:lvl2pPr>
              <a:buNone/>
              <a:defRPr sz="3150" b="1">
                <a:solidFill>
                  <a:srgbClr val="102B3F"/>
                </a:solidFill>
              </a:defRPr>
            </a:lvl2pPr>
            <a:lvl3pPr>
              <a:buNone/>
              <a:defRPr sz="3150" b="1">
                <a:solidFill>
                  <a:srgbClr val="102B3F"/>
                </a:solidFill>
              </a:defRPr>
            </a:lvl3pPr>
            <a:lvl4pPr>
              <a:buNone/>
              <a:defRPr sz="3150" b="1">
                <a:solidFill>
                  <a:srgbClr val="102B3F"/>
                </a:solidFill>
              </a:defRPr>
            </a:lvl4pPr>
            <a:lvl5pPr>
              <a:buNone/>
              <a:defRPr sz="3150" b="1">
                <a:solidFill>
                  <a:srgbClr val="102B3F"/>
                </a:solidFill>
              </a:defRPr>
            </a:lvl5pPr>
            <a:lvl6pPr>
              <a:buNone/>
              <a:defRPr sz="3150" b="1">
                <a:solidFill>
                  <a:srgbClr val="102B3F"/>
                </a:solidFill>
              </a:defRPr>
            </a:lvl6pPr>
            <a:lvl7pPr>
              <a:buNone/>
              <a:defRPr sz="3150" b="1">
                <a:solidFill>
                  <a:srgbClr val="102B3F"/>
                </a:solidFill>
              </a:defRPr>
            </a:lvl7pPr>
            <a:lvl8pPr>
              <a:buNone/>
              <a:defRPr sz="3150" b="1">
                <a:solidFill>
                  <a:srgbClr val="102B3F"/>
                </a:solidFill>
              </a:defRPr>
            </a:lvl8pPr>
            <a:lvl9pPr>
              <a:buNone/>
              <a:defRPr sz="3150" b="1">
                <a:solidFill>
                  <a:srgbClr val="102B3F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02B3F"/>
                </a:solidFill>
              </a:defRPr>
            </a:pPr>
            <a:r>
              <a:rPr sz="3150" b="1">
                <a:solidFill>
                  <a:srgbClr val="102B3F"/>
                </a:solidFill>
              </a:rPr>
              <a:t>Selection and retrospective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FCF11-0E05-4426-AD48-857E8721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674"/>
                </a:solidFill>
              </a:defRPr>
            </a:defPPr>
            <a:lvl1pPr>
              <a:buNone/>
              <a:defRPr sz="1125" b="0">
                <a:solidFill>
                  <a:srgbClr val="526674"/>
                </a:solidFill>
              </a:defRPr>
            </a:lvl1pPr>
            <a:lvl2pPr>
              <a:buNone/>
              <a:defRPr sz="1125" b="0">
                <a:solidFill>
                  <a:srgbClr val="526674"/>
                </a:solidFill>
              </a:defRPr>
            </a:lvl2pPr>
            <a:lvl3pPr>
              <a:buNone/>
              <a:defRPr sz="1125" b="0">
                <a:solidFill>
                  <a:srgbClr val="526674"/>
                </a:solidFill>
              </a:defRPr>
            </a:lvl3pPr>
            <a:lvl4pPr>
              <a:buNone/>
              <a:defRPr sz="1125" b="0">
                <a:solidFill>
                  <a:srgbClr val="526674"/>
                </a:solidFill>
              </a:defRPr>
            </a:lvl4pPr>
            <a:lvl5pPr>
              <a:buNone/>
              <a:defRPr sz="1125" b="0">
                <a:solidFill>
                  <a:srgbClr val="526674"/>
                </a:solidFill>
              </a:defRPr>
            </a:lvl5pPr>
            <a:lvl6pPr>
              <a:buNone/>
              <a:defRPr sz="1125" b="0">
                <a:solidFill>
                  <a:srgbClr val="526674"/>
                </a:solidFill>
              </a:defRPr>
            </a:lvl6pPr>
            <a:lvl7pPr>
              <a:buNone/>
              <a:defRPr sz="1125" b="0">
                <a:solidFill>
                  <a:srgbClr val="526674"/>
                </a:solidFill>
              </a:defRPr>
            </a:lvl7pPr>
            <a:lvl8pPr>
              <a:buNone/>
              <a:defRPr sz="1125" b="0">
                <a:solidFill>
                  <a:srgbClr val="526674"/>
                </a:solidFill>
              </a:defRPr>
            </a:lvl8pPr>
            <a:lvl9pPr>
              <a:buNone/>
              <a:defRPr sz="1125" b="0">
                <a:solidFill>
                  <a:srgbClr val="526674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674"/>
                </a:solidFill>
              </a:defRPr>
            </a:pPr>
            <a:r>
              <a:rPr sz="1125" b="0">
                <a:solidFill>
                  <a:srgbClr val="526674"/>
                </a:solidFill>
              </a:rPr>
              <a:t>4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52EFE-2470-4194-AEC4-5A96CFF5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382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087F78"/>
                </a:solidFill>
              </a:defRPr>
            </a:defPPr>
            <a:lvl1pPr>
              <a:buNone/>
              <a:defRPr sz="1950" b="1">
                <a:solidFill>
                  <a:srgbClr val="087F78"/>
                </a:solidFill>
              </a:defRPr>
            </a:lvl1pPr>
            <a:lvl2pPr>
              <a:buNone/>
              <a:defRPr sz="1950" b="1">
                <a:solidFill>
                  <a:srgbClr val="087F78"/>
                </a:solidFill>
              </a:defRPr>
            </a:lvl2pPr>
            <a:lvl3pPr>
              <a:buNone/>
              <a:defRPr sz="1950" b="1">
                <a:solidFill>
                  <a:srgbClr val="087F78"/>
                </a:solidFill>
              </a:defRPr>
            </a:lvl3pPr>
            <a:lvl4pPr>
              <a:buNone/>
              <a:defRPr sz="1950" b="1">
                <a:solidFill>
                  <a:srgbClr val="087F78"/>
                </a:solidFill>
              </a:defRPr>
            </a:lvl4pPr>
            <a:lvl5pPr>
              <a:buNone/>
              <a:defRPr sz="1950" b="1">
                <a:solidFill>
                  <a:srgbClr val="087F78"/>
                </a:solidFill>
              </a:defRPr>
            </a:lvl5pPr>
            <a:lvl6pPr>
              <a:buNone/>
              <a:defRPr sz="1950" b="1">
                <a:solidFill>
                  <a:srgbClr val="087F78"/>
                </a:solidFill>
              </a:defRPr>
            </a:lvl6pPr>
            <a:lvl7pPr>
              <a:buNone/>
              <a:defRPr sz="1950" b="1">
                <a:solidFill>
                  <a:srgbClr val="087F78"/>
                </a:solidFill>
              </a:defRPr>
            </a:lvl7pPr>
            <a:lvl8pPr>
              <a:buNone/>
              <a:defRPr sz="1950" b="1">
                <a:solidFill>
                  <a:srgbClr val="087F78"/>
                </a:solidFill>
              </a:defRPr>
            </a:lvl8pPr>
            <a:lvl9pPr>
              <a:buNone/>
              <a:defRPr sz="1950" b="1">
                <a:solidFill>
                  <a:srgbClr val="087F78"/>
                </a:solidFill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087F78"/>
                </a:solidFill>
              </a:defRPr>
            </a:pPr>
            <a:r>
              <a:rPr sz="1950" b="1">
                <a:solidFill>
                  <a:srgbClr val="087F78"/>
                </a:solidFill>
              </a:rPr>
              <a:t>Historical split: D=734, T=184. T was already inspected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A6D08-6064-4A4E-9976-B968E10D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0382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3F"/>
                </a:solidFill>
              </a:defRPr>
            </a:defPPr>
            <a:lvl1pPr>
              <a:buNone/>
              <a:defRPr sz="1950" b="0">
                <a:solidFill>
                  <a:srgbClr val="102B3F"/>
                </a:solidFill>
              </a:defRPr>
            </a:lvl1pPr>
            <a:lvl2pPr>
              <a:buNone/>
              <a:defRPr sz="1950" b="0">
                <a:solidFill>
                  <a:srgbClr val="102B3F"/>
                </a:solidFill>
              </a:defRPr>
            </a:lvl2pPr>
            <a:lvl3pPr>
              <a:buNone/>
              <a:defRPr sz="1950" b="0">
                <a:solidFill>
                  <a:srgbClr val="102B3F"/>
                </a:solidFill>
              </a:defRPr>
            </a:lvl3pPr>
            <a:lvl4pPr>
              <a:buNone/>
              <a:defRPr sz="1950" b="0">
                <a:solidFill>
                  <a:srgbClr val="102B3F"/>
                </a:solidFill>
              </a:defRPr>
            </a:lvl4pPr>
            <a:lvl5pPr>
              <a:buNone/>
              <a:defRPr sz="1950" b="0">
                <a:solidFill>
                  <a:srgbClr val="102B3F"/>
                </a:solidFill>
              </a:defRPr>
            </a:lvl5pPr>
            <a:lvl6pPr>
              <a:buNone/>
              <a:defRPr sz="1950" b="0">
                <a:solidFill>
                  <a:srgbClr val="102B3F"/>
                </a:solidFill>
              </a:defRPr>
            </a:lvl6pPr>
            <a:lvl7pPr>
              <a:buNone/>
              <a:defRPr sz="1950" b="0">
                <a:solidFill>
                  <a:srgbClr val="102B3F"/>
                </a:solidFill>
              </a:defRPr>
            </a:lvl7pPr>
            <a:lvl8pPr>
              <a:buNone/>
              <a:defRPr sz="1950" b="0">
                <a:solidFill>
                  <a:srgbClr val="102B3F"/>
                </a:solidFill>
              </a:defRPr>
            </a:lvl8pPr>
            <a:lvl9pPr>
              <a:buNone/>
              <a:defRPr sz="1950" b="0">
                <a:solidFill>
                  <a:srgbClr val="102B3F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02B3F"/>
                </a:solidFill>
              </a:defRPr>
            </a:pPr>
            <a:r>
              <a:rPr sz="1950" b="0">
                <a:solidFill>
                  <a:srgbClr val="102B3F"/>
                </a:solidFill>
              </a:rPr>
              <a:t>D splits into S=550 selection rows and C=184 cutoff rows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5F3B9-01FE-480B-BF17-F8DA91EE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10382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3F"/>
                </a:solidFill>
              </a:defRPr>
            </a:defPPr>
            <a:lvl1pPr>
              <a:buNone/>
              <a:defRPr sz="1950" b="0">
                <a:solidFill>
                  <a:srgbClr val="102B3F"/>
                </a:solidFill>
              </a:defRPr>
            </a:lvl1pPr>
            <a:lvl2pPr>
              <a:buNone/>
              <a:defRPr sz="1950" b="0">
                <a:solidFill>
                  <a:srgbClr val="102B3F"/>
                </a:solidFill>
              </a:defRPr>
            </a:lvl2pPr>
            <a:lvl3pPr>
              <a:buNone/>
              <a:defRPr sz="1950" b="0">
                <a:solidFill>
                  <a:srgbClr val="102B3F"/>
                </a:solidFill>
              </a:defRPr>
            </a:lvl3pPr>
            <a:lvl4pPr>
              <a:buNone/>
              <a:defRPr sz="1950" b="0">
                <a:solidFill>
                  <a:srgbClr val="102B3F"/>
                </a:solidFill>
              </a:defRPr>
            </a:lvl4pPr>
            <a:lvl5pPr>
              <a:buNone/>
              <a:defRPr sz="1950" b="0">
                <a:solidFill>
                  <a:srgbClr val="102B3F"/>
                </a:solidFill>
              </a:defRPr>
            </a:lvl5pPr>
            <a:lvl6pPr>
              <a:buNone/>
              <a:defRPr sz="1950" b="0">
                <a:solidFill>
                  <a:srgbClr val="102B3F"/>
                </a:solidFill>
              </a:defRPr>
            </a:lvl6pPr>
            <a:lvl7pPr>
              <a:buNone/>
              <a:defRPr sz="1950" b="0">
                <a:solidFill>
                  <a:srgbClr val="102B3F"/>
                </a:solidFill>
              </a:defRPr>
            </a:lvl7pPr>
            <a:lvl8pPr>
              <a:buNone/>
              <a:defRPr sz="1950" b="0">
                <a:solidFill>
                  <a:srgbClr val="102B3F"/>
                </a:solidFill>
              </a:defRPr>
            </a:lvl8pPr>
            <a:lvl9pPr>
              <a:buNone/>
              <a:defRPr sz="1950" b="0">
                <a:solidFill>
                  <a:srgbClr val="102B3F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02B3F"/>
                </a:solidFill>
              </a:defRPr>
            </a:pPr>
            <a:r>
              <a:rPr sz="1950" b="0">
                <a:solidFill>
                  <a:srgbClr val="102B3F"/>
                </a:solidFill>
              </a:rPr>
              <a:t>On S: five outer folds, three inner folds. Preprocessing stays 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6058F-2128-4BA7-B741-EE212F9F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10382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3F"/>
                </a:solidFill>
              </a:defRPr>
            </a:defPPr>
            <a:lvl1pPr>
              <a:buNone/>
              <a:defRPr sz="1950" b="0">
                <a:solidFill>
                  <a:srgbClr val="102B3F"/>
                </a:solidFill>
              </a:defRPr>
            </a:lvl1pPr>
            <a:lvl2pPr>
              <a:buNone/>
              <a:defRPr sz="1950" b="0">
                <a:solidFill>
                  <a:srgbClr val="102B3F"/>
                </a:solidFill>
              </a:defRPr>
            </a:lvl2pPr>
            <a:lvl3pPr>
              <a:buNone/>
              <a:defRPr sz="1950" b="0">
                <a:solidFill>
                  <a:srgbClr val="102B3F"/>
                </a:solidFill>
              </a:defRPr>
            </a:lvl3pPr>
            <a:lvl4pPr>
              <a:buNone/>
              <a:defRPr sz="1950" b="0">
                <a:solidFill>
                  <a:srgbClr val="102B3F"/>
                </a:solidFill>
              </a:defRPr>
            </a:lvl4pPr>
            <a:lvl5pPr>
              <a:buNone/>
              <a:defRPr sz="1950" b="0">
                <a:solidFill>
                  <a:srgbClr val="102B3F"/>
                </a:solidFill>
              </a:defRPr>
            </a:lvl5pPr>
            <a:lvl6pPr>
              <a:buNone/>
              <a:defRPr sz="1950" b="0">
                <a:solidFill>
                  <a:srgbClr val="102B3F"/>
                </a:solidFill>
              </a:defRPr>
            </a:lvl6pPr>
            <a:lvl7pPr>
              <a:buNone/>
              <a:defRPr sz="1950" b="0">
                <a:solidFill>
                  <a:srgbClr val="102B3F"/>
                </a:solidFill>
              </a:defRPr>
            </a:lvl7pPr>
            <a:lvl8pPr>
              <a:buNone/>
              <a:defRPr sz="1950" b="0">
                <a:solidFill>
                  <a:srgbClr val="102B3F"/>
                </a:solidFill>
              </a:defRPr>
            </a:lvl8pPr>
            <a:lvl9pPr>
              <a:buNone/>
              <a:defRPr sz="1950" b="0">
                <a:solidFill>
                  <a:srgbClr val="102B3F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02B3F"/>
                </a:solidFill>
              </a:defRPr>
            </a:pPr>
            <a:r>
              <a:rPr sz="1950" b="0">
                <a:solidFill>
                  <a:srgbClr val="102B3F"/>
                </a:solidFill>
              </a:rPr>
              <a:t>Frozen S-fitted models predict C; choose cutoffs by F1. No S+C refit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EEF43-9581-4C7C-B09B-B3F306AF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0382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3F"/>
                </a:solidFill>
              </a:defRPr>
            </a:defPPr>
            <a:lvl1pPr>
              <a:buNone/>
              <a:defRPr sz="1950" b="0">
                <a:solidFill>
                  <a:srgbClr val="102B3F"/>
                </a:solidFill>
              </a:defRPr>
            </a:lvl1pPr>
            <a:lvl2pPr>
              <a:buNone/>
              <a:defRPr sz="1950" b="0">
                <a:solidFill>
                  <a:srgbClr val="102B3F"/>
                </a:solidFill>
              </a:defRPr>
            </a:lvl2pPr>
            <a:lvl3pPr>
              <a:buNone/>
              <a:defRPr sz="1950" b="0">
                <a:solidFill>
                  <a:srgbClr val="102B3F"/>
                </a:solidFill>
              </a:defRPr>
            </a:lvl3pPr>
            <a:lvl4pPr>
              <a:buNone/>
              <a:defRPr sz="1950" b="0">
                <a:solidFill>
                  <a:srgbClr val="102B3F"/>
                </a:solidFill>
              </a:defRPr>
            </a:lvl4pPr>
            <a:lvl5pPr>
              <a:buNone/>
              <a:defRPr sz="1950" b="0">
                <a:solidFill>
                  <a:srgbClr val="102B3F"/>
                </a:solidFill>
              </a:defRPr>
            </a:lvl5pPr>
            <a:lvl6pPr>
              <a:buNone/>
              <a:defRPr sz="1950" b="0">
                <a:solidFill>
                  <a:srgbClr val="102B3F"/>
                </a:solidFill>
              </a:defRPr>
            </a:lvl6pPr>
            <a:lvl7pPr>
              <a:buNone/>
              <a:defRPr sz="1950" b="0">
                <a:solidFill>
                  <a:srgbClr val="102B3F"/>
                </a:solidFill>
              </a:defRPr>
            </a:lvl7pPr>
            <a:lvl8pPr>
              <a:buNone/>
              <a:defRPr sz="1950" b="0">
                <a:solidFill>
                  <a:srgbClr val="102B3F"/>
                </a:solidFill>
              </a:defRPr>
            </a:lvl8pPr>
            <a:lvl9pPr>
              <a:buNone/>
              <a:defRPr sz="1950" b="0">
                <a:solidFill>
                  <a:srgbClr val="102B3F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02B3F"/>
                </a:solidFill>
              </a:defRPr>
            </a:pPr>
            <a:r>
              <a:rPr sz="1950" b="0">
                <a:solidFill>
                  <a:srgbClr val="102B3F"/>
                </a:solidFill>
              </a:rPr>
              <a:t>D-only hospital checks repeat family and cutoff selection locally</a:t>
            </a:r>
          </a:p>
        </p:txBody>
      </p:sp>
    </p:spTree>
    <p:extLst>
      <p:ext uri="{BB962C8B-B14F-4D97-AF65-F5344CB8AC3E}">
        <p14:creationId xmlns:p14="http://schemas.microsoft.com/office/powerpoint/2010/main" val="11914977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62E79-D7C8-42BE-8EE3-C458C6DB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02B3F"/>
                </a:solidFill>
              </a:defRPr>
            </a:defPPr>
            <a:lvl1pPr>
              <a:buNone/>
              <a:defRPr sz="3150" b="1">
                <a:solidFill>
                  <a:srgbClr val="102B3F"/>
                </a:solidFill>
              </a:defRPr>
            </a:lvl1pPr>
            <a:lvl2pPr>
              <a:buNone/>
              <a:defRPr sz="3150" b="1">
                <a:solidFill>
                  <a:srgbClr val="102B3F"/>
                </a:solidFill>
              </a:defRPr>
            </a:lvl2pPr>
            <a:lvl3pPr>
              <a:buNone/>
              <a:defRPr sz="3150" b="1">
                <a:solidFill>
                  <a:srgbClr val="102B3F"/>
                </a:solidFill>
              </a:defRPr>
            </a:lvl3pPr>
            <a:lvl4pPr>
              <a:buNone/>
              <a:defRPr sz="3150" b="1">
                <a:solidFill>
                  <a:srgbClr val="102B3F"/>
                </a:solidFill>
              </a:defRPr>
            </a:lvl4pPr>
            <a:lvl5pPr>
              <a:buNone/>
              <a:defRPr sz="3150" b="1">
                <a:solidFill>
                  <a:srgbClr val="102B3F"/>
                </a:solidFill>
              </a:defRPr>
            </a:lvl5pPr>
            <a:lvl6pPr>
              <a:buNone/>
              <a:defRPr sz="3150" b="1">
                <a:solidFill>
                  <a:srgbClr val="102B3F"/>
                </a:solidFill>
              </a:defRPr>
            </a:lvl6pPr>
            <a:lvl7pPr>
              <a:buNone/>
              <a:defRPr sz="3150" b="1">
                <a:solidFill>
                  <a:srgbClr val="102B3F"/>
                </a:solidFill>
              </a:defRPr>
            </a:lvl7pPr>
            <a:lvl8pPr>
              <a:buNone/>
              <a:defRPr sz="3150" b="1">
                <a:solidFill>
                  <a:srgbClr val="102B3F"/>
                </a:solidFill>
              </a:defRPr>
            </a:lvl8pPr>
            <a:lvl9pPr>
              <a:buNone/>
              <a:defRPr sz="3150" b="1">
                <a:solidFill>
                  <a:srgbClr val="102B3F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02B3F"/>
                </a:solidFill>
              </a:defRPr>
            </a:pPr>
            <a:r>
              <a:rPr sz="3150" b="1">
                <a:solidFill>
                  <a:srgbClr val="102B3F"/>
                </a:solidFill>
              </a:rPr>
              <a:t>Nested cross-validation F1 (%)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2F18A-F576-40B9-BCCB-4E1EBB9C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674"/>
                </a:solidFill>
              </a:defRPr>
            </a:defPPr>
            <a:lvl1pPr>
              <a:buNone/>
              <a:defRPr sz="1125" b="0">
                <a:solidFill>
                  <a:srgbClr val="526674"/>
                </a:solidFill>
              </a:defRPr>
            </a:lvl1pPr>
            <a:lvl2pPr>
              <a:buNone/>
              <a:defRPr sz="1125" b="0">
                <a:solidFill>
                  <a:srgbClr val="526674"/>
                </a:solidFill>
              </a:defRPr>
            </a:lvl2pPr>
            <a:lvl3pPr>
              <a:buNone/>
              <a:defRPr sz="1125" b="0">
                <a:solidFill>
                  <a:srgbClr val="526674"/>
                </a:solidFill>
              </a:defRPr>
            </a:lvl3pPr>
            <a:lvl4pPr>
              <a:buNone/>
              <a:defRPr sz="1125" b="0">
                <a:solidFill>
                  <a:srgbClr val="526674"/>
                </a:solidFill>
              </a:defRPr>
            </a:lvl4pPr>
            <a:lvl5pPr>
              <a:buNone/>
              <a:defRPr sz="1125" b="0">
                <a:solidFill>
                  <a:srgbClr val="526674"/>
                </a:solidFill>
              </a:defRPr>
            </a:lvl5pPr>
            <a:lvl6pPr>
              <a:buNone/>
              <a:defRPr sz="1125" b="0">
                <a:solidFill>
                  <a:srgbClr val="526674"/>
                </a:solidFill>
              </a:defRPr>
            </a:lvl6pPr>
            <a:lvl7pPr>
              <a:buNone/>
              <a:defRPr sz="1125" b="0">
                <a:solidFill>
                  <a:srgbClr val="526674"/>
                </a:solidFill>
              </a:defRPr>
            </a:lvl7pPr>
            <a:lvl8pPr>
              <a:buNone/>
              <a:defRPr sz="1125" b="0">
                <a:solidFill>
                  <a:srgbClr val="526674"/>
                </a:solidFill>
              </a:defRPr>
            </a:lvl8pPr>
            <a:lvl9pPr>
              <a:buNone/>
              <a:defRPr sz="1125" b="0">
                <a:solidFill>
                  <a:srgbClr val="526674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674"/>
                </a:solidFill>
              </a:defRPr>
            </a:pPr>
            <a:r>
              <a:rPr sz="1125" b="0">
                <a:solidFill>
                  <a:srgbClr val="526674"/>
                </a:solidFill>
              </a:rPr>
              <a:t>5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997BB-9B64-4867-BBE2-3D9E1DDE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674"/>
                </a:solidFill>
              </a:defRPr>
            </a:defPPr>
            <a:lvl1pPr>
              <a:buNone/>
              <a:defRPr sz="1125" b="0">
                <a:solidFill>
                  <a:srgbClr val="526674"/>
                </a:solidFill>
              </a:defRPr>
            </a:lvl1pPr>
            <a:lvl2pPr>
              <a:buNone/>
              <a:defRPr sz="1125" b="0">
                <a:solidFill>
                  <a:srgbClr val="526674"/>
                </a:solidFill>
              </a:defRPr>
            </a:lvl2pPr>
            <a:lvl3pPr>
              <a:buNone/>
              <a:defRPr sz="1125" b="0">
                <a:solidFill>
                  <a:srgbClr val="526674"/>
                </a:solidFill>
              </a:defRPr>
            </a:lvl3pPr>
            <a:lvl4pPr>
              <a:buNone/>
              <a:defRPr sz="1125" b="0">
                <a:solidFill>
                  <a:srgbClr val="526674"/>
                </a:solidFill>
              </a:defRPr>
            </a:lvl4pPr>
            <a:lvl5pPr>
              <a:buNone/>
              <a:defRPr sz="1125" b="0">
                <a:solidFill>
                  <a:srgbClr val="526674"/>
                </a:solidFill>
              </a:defRPr>
            </a:lvl5pPr>
            <a:lvl6pPr>
              <a:buNone/>
              <a:defRPr sz="1125" b="0">
                <a:solidFill>
                  <a:srgbClr val="526674"/>
                </a:solidFill>
              </a:defRPr>
            </a:lvl6pPr>
            <a:lvl7pPr>
              <a:buNone/>
              <a:defRPr sz="1125" b="0">
                <a:solidFill>
                  <a:srgbClr val="526674"/>
                </a:solidFill>
              </a:defRPr>
            </a:lvl7pPr>
            <a:lvl8pPr>
              <a:buNone/>
              <a:defRPr sz="1125" b="0">
                <a:solidFill>
                  <a:srgbClr val="526674"/>
                </a:solidFill>
              </a:defRPr>
            </a:lvl8pPr>
            <a:lvl9pPr>
              <a:buNone/>
              <a:defRPr sz="1125" b="0">
                <a:solidFill>
                  <a:srgbClr val="526674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674"/>
                </a:solidFill>
              </a:defRPr>
            </a:pPr>
            <a:r>
              <a:rPr sz="1125" b="0">
                <a:solidFill>
                  <a:srgbClr val="526674"/>
                </a:solidFill>
              </a:rPr>
              <a:t>LR = Logistic Regression. HGB = Histogram Gradient Boosting. Five outer / three inner folds on S.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BFCCB7C-6196-45EC-8A6E-F0E5ADF1098E}"/>
              </a:ext>
            </a:extLst>
          </p:cNvPr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287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a2719147db4c3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29D64-C05F-4647-B18C-055BF2E4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526674"/>
                </a:solidFill>
              </a:defRPr>
            </a:defPPr>
            <a:lvl1pPr>
              <a:buNone/>
              <a:defRPr sz="1725" b="0">
                <a:solidFill>
                  <a:srgbClr val="526674"/>
                </a:solidFill>
              </a:defRPr>
            </a:lvl1pPr>
            <a:lvl2pPr>
              <a:buNone/>
              <a:defRPr sz="1725" b="0">
                <a:solidFill>
                  <a:srgbClr val="526674"/>
                </a:solidFill>
              </a:defRPr>
            </a:lvl2pPr>
            <a:lvl3pPr>
              <a:buNone/>
              <a:defRPr sz="1725" b="0">
                <a:solidFill>
                  <a:srgbClr val="526674"/>
                </a:solidFill>
              </a:defRPr>
            </a:lvl3pPr>
            <a:lvl4pPr>
              <a:buNone/>
              <a:defRPr sz="1725" b="0">
                <a:solidFill>
                  <a:srgbClr val="526674"/>
                </a:solidFill>
              </a:defRPr>
            </a:lvl4pPr>
            <a:lvl5pPr>
              <a:buNone/>
              <a:defRPr sz="1725" b="0">
                <a:solidFill>
                  <a:srgbClr val="526674"/>
                </a:solidFill>
              </a:defRPr>
            </a:lvl5pPr>
            <a:lvl6pPr>
              <a:buNone/>
              <a:defRPr sz="1725" b="0">
                <a:solidFill>
                  <a:srgbClr val="526674"/>
                </a:solidFill>
              </a:defRPr>
            </a:lvl6pPr>
            <a:lvl7pPr>
              <a:buNone/>
              <a:defRPr sz="1725" b="0">
                <a:solidFill>
                  <a:srgbClr val="526674"/>
                </a:solidFill>
              </a:defRPr>
            </a:lvl7pPr>
            <a:lvl8pPr>
              <a:buNone/>
              <a:defRPr sz="1725" b="0">
                <a:solidFill>
                  <a:srgbClr val="526674"/>
                </a:solidFill>
              </a:defRPr>
            </a:lvl8pPr>
            <a:lvl9pPr>
              <a:buNone/>
              <a:defRPr sz="1725" b="0">
                <a:solidFill>
                  <a:srgbClr val="526674"/>
                </a:solidFill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26674"/>
                </a:solidFill>
              </a:defRPr>
            </a:pPr>
            <a:r>
              <a:rPr sz="1725" b="0">
                <a:solidFill>
                  <a:srgbClr val="526674"/>
                </a:solidFill>
              </a:rPr>
              <a:t>Random Forest: 0.8358 F1. XGBoost: 0.8308. The predefined rule selects RF.</a:t>
            </a:r>
          </a:p>
        </p:txBody>
      </p:sp>
    </p:spTree>
    <p:extLst>
      <p:ext uri="{BB962C8B-B14F-4D97-AF65-F5344CB8AC3E}">
        <p14:creationId xmlns:p14="http://schemas.microsoft.com/office/powerpoint/2010/main" val="9523444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6C57A-3FAB-4EC6-B481-03E9465D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02B3F"/>
                </a:solidFill>
              </a:defRPr>
            </a:defPPr>
            <a:lvl1pPr>
              <a:buNone/>
              <a:defRPr sz="3000" b="1">
                <a:solidFill>
                  <a:srgbClr val="102B3F"/>
                </a:solidFill>
              </a:defRPr>
            </a:lvl1pPr>
            <a:lvl2pPr>
              <a:buNone/>
              <a:defRPr sz="3000" b="1">
                <a:solidFill>
                  <a:srgbClr val="102B3F"/>
                </a:solidFill>
              </a:defRPr>
            </a:lvl2pPr>
            <a:lvl3pPr>
              <a:buNone/>
              <a:defRPr sz="3000" b="1">
                <a:solidFill>
                  <a:srgbClr val="102B3F"/>
                </a:solidFill>
              </a:defRPr>
            </a:lvl3pPr>
            <a:lvl4pPr>
              <a:buNone/>
              <a:defRPr sz="3000" b="1">
                <a:solidFill>
                  <a:srgbClr val="102B3F"/>
                </a:solidFill>
              </a:defRPr>
            </a:lvl4pPr>
            <a:lvl5pPr>
              <a:buNone/>
              <a:defRPr sz="3000" b="1">
                <a:solidFill>
                  <a:srgbClr val="102B3F"/>
                </a:solidFill>
              </a:defRPr>
            </a:lvl5pPr>
            <a:lvl6pPr>
              <a:buNone/>
              <a:defRPr sz="3000" b="1">
                <a:solidFill>
                  <a:srgbClr val="102B3F"/>
                </a:solidFill>
              </a:defRPr>
            </a:lvl6pPr>
            <a:lvl7pPr>
              <a:buNone/>
              <a:defRPr sz="3000" b="1">
                <a:solidFill>
                  <a:srgbClr val="102B3F"/>
                </a:solidFill>
              </a:defRPr>
            </a:lvl7pPr>
            <a:lvl8pPr>
              <a:buNone/>
              <a:defRPr sz="3000" b="1">
                <a:solidFill>
                  <a:srgbClr val="102B3F"/>
                </a:solidFill>
              </a:defRPr>
            </a:lvl8pPr>
            <a:lvl9pPr>
              <a:buNone/>
              <a:defRPr sz="3000" b="1">
                <a:solidFill>
                  <a:srgbClr val="102B3F"/>
                </a:solidFill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02B3F"/>
                </a:solidFill>
              </a:defRPr>
            </a:pPr>
            <a:r>
              <a:rPr sz="3000" b="1">
                <a:solidFill>
                  <a:srgbClr val="102B3F"/>
                </a:solidFill>
              </a:rPr>
              <a:t>Retrospective historical test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E9977-05E3-4E84-AC56-2B618756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674"/>
                </a:solidFill>
              </a:defRPr>
            </a:defPPr>
            <a:lvl1pPr>
              <a:buNone/>
              <a:defRPr sz="1125" b="0">
                <a:solidFill>
                  <a:srgbClr val="526674"/>
                </a:solidFill>
              </a:defRPr>
            </a:lvl1pPr>
            <a:lvl2pPr>
              <a:buNone/>
              <a:defRPr sz="1125" b="0">
                <a:solidFill>
                  <a:srgbClr val="526674"/>
                </a:solidFill>
              </a:defRPr>
            </a:lvl2pPr>
            <a:lvl3pPr>
              <a:buNone/>
              <a:defRPr sz="1125" b="0">
                <a:solidFill>
                  <a:srgbClr val="526674"/>
                </a:solidFill>
              </a:defRPr>
            </a:lvl3pPr>
            <a:lvl4pPr>
              <a:buNone/>
              <a:defRPr sz="1125" b="0">
                <a:solidFill>
                  <a:srgbClr val="526674"/>
                </a:solidFill>
              </a:defRPr>
            </a:lvl4pPr>
            <a:lvl5pPr>
              <a:buNone/>
              <a:defRPr sz="1125" b="0">
                <a:solidFill>
                  <a:srgbClr val="526674"/>
                </a:solidFill>
              </a:defRPr>
            </a:lvl5pPr>
            <a:lvl6pPr>
              <a:buNone/>
              <a:defRPr sz="1125" b="0">
                <a:solidFill>
                  <a:srgbClr val="526674"/>
                </a:solidFill>
              </a:defRPr>
            </a:lvl6pPr>
            <a:lvl7pPr>
              <a:buNone/>
              <a:defRPr sz="1125" b="0">
                <a:solidFill>
                  <a:srgbClr val="526674"/>
                </a:solidFill>
              </a:defRPr>
            </a:lvl7pPr>
            <a:lvl8pPr>
              <a:buNone/>
              <a:defRPr sz="1125" b="0">
                <a:solidFill>
                  <a:srgbClr val="526674"/>
                </a:solidFill>
              </a:defRPr>
            </a:lvl8pPr>
            <a:lvl9pPr>
              <a:buNone/>
              <a:defRPr sz="1125" b="0">
                <a:solidFill>
                  <a:srgbClr val="526674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674"/>
                </a:solidFill>
              </a:defRPr>
            </a:pPr>
            <a:r>
              <a:rPr sz="1125" b="0">
                <a:solidFill>
                  <a:srgbClr val="526674"/>
                </a:solidFill>
              </a:rPr>
              <a:t>6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4ECB4-EFEC-4FBD-8B6C-3CC17F42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674"/>
                </a:solidFill>
              </a:defRPr>
            </a:defPPr>
            <a:lvl1pPr>
              <a:buNone/>
              <a:defRPr sz="1125" b="0">
                <a:solidFill>
                  <a:srgbClr val="526674"/>
                </a:solidFill>
              </a:defRPr>
            </a:lvl1pPr>
            <a:lvl2pPr>
              <a:buNone/>
              <a:defRPr sz="1125" b="0">
                <a:solidFill>
                  <a:srgbClr val="526674"/>
                </a:solidFill>
              </a:defRPr>
            </a:lvl2pPr>
            <a:lvl3pPr>
              <a:buNone/>
              <a:defRPr sz="1125" b="0">
                <a:solidFill>
                  <a:srgbClr val="526674"/>
                </a:solidFill>
              </a:defRPr>
            </a:lvl3pPr>
            <a:lvl4pPr>
              <a:buNone/>
              <a:defRPr sz="1125" b="0">
                <a:solidFill>
                  <a:srgbClr val="526674"/>
                </a:solidFill>
              </a:defRPr>
            </a:lvl4pPr>
            <a:lvl5pPr>
              <a:buNone/>
              <a:defRPr sz="1125" b="0">
                <a:solidFill>
                  <a:srgbClr val="526674"/>
                </a:solidFill>
              </a:defRPr>
            </a:lvl5pPr>
            <a:lvl6pPr>
              <a:buNone/>
              <a:defRPr sz="1125" b="0">
                <a:solidFill>
                  <a:srgbClr val="526674"/>
                </a:solidFill>
              </a:defRPr>
            </a:lvl6pPr>
            <a:lvl7pPr>
              <a:buNone/>
              <a:defRPr sz="1125" b="0">
                <a:solidFill>
                  <a:srgbClr val="526674"/>
                </a:solidFill>
              </a:defRPr>
            </a:lvl7pPr>
            <a:lvl8pPr>
              <a:buNone/>
              <a:defRPr sz="1125" b="0">
                <a:solidFill>
                  <a:srgbClr val="526674"/>
                </a:solidFill>
              </a:defRPr>
            </a:lvl8pPr>
            <a:lvl9pPr>
              <a:buNone/>
              <a:defRPr sz="1125" b="0">
                <a:solidFill>
                  <a:srgbClr val="526674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674"/>
                </a:solidFill>
              </a:defRPr>
            </a:pPr>
            <a:r>
              <a:rPr sz="1125" b="0">
                <a:solidFill>
                  <a:srgbClr val="526674"/>
                </a:solidFill>
              </a:rPr>
              <a:t>184 previously inspected records. Each model uses its separate C-selected cutoff.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EDA57-9E48-4307-B090-18635E83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087F78"/>
                </a:solidFill>
              </a:defRPr>
            </a:defPPr>
            <a:lvl1pPr>
              <a:buNone/>
              <a:defRPr sz="2925" b="1">
                <a:solidFill>
                  <a:srgbClr val="087F78"/>
                </a:solidFill>
              </a:defRPr>
            </a:lvl1pPr>
            <a:lvl2pPr>
              <a:buNone/>
              <a:defRPr sz="2925" b="1">
                <a:solidFill>
                  <a:srgbClr val="087F78"/>
                </a:solidFill>
              </a:defRPr>
            </a:lvl2pPr>
            <a:lvl3pPr>
              <a:buNone/>
              <a:defRPr sz="2925" b="1">
                <a:solidFill>
                  <a:srgbClr val="087F78"/>
                </a:solidFill>
              </a:defRPr>
            </a:lvl3pPr>
            <a:lvl4pPr>
              <a:buNone/>
              <a:defRPr sz="2925" b="1">
                <a:solidFill>
                  <a:srgbClr val="087F78"/>
                </a:solidFill>
              </a:defRPr>
            </a:lvl4pPr>
            <a:lvl5pPr>
              <a:buNone/>
              <a:defRPr sz="2925" b="1">
                <a:solidFill>
                  <a:srgbClr val="087F78"/>
                </a:solidFill>
              </a:defRPr>
            </a:lvl5pPr>
            <a:lvl6pPr>
              <a:buNone/>
              <a:defRPr sz="2925" b="1">
                <a:solidFill>
                  <a:srgbClr val="087F78"/>
                </a:solidFill>
              </a:defRPr>
            </a:lvl6pPr>
            <a:lvl7pPr>
              <a:buNone/>
              <a:defRPr sz="2925" b="1">
                <a:solidFill>
                  <a:srgbClr val="087F78"/>
                </a:solidFill>
              </a:defRPr>
            </a:lvl7pPr>
            <a:lvl8pPr>
              <a:buNone/>
              <a:defRPr sz="2925" b="1">
                <a:solidFill>
                  <a:srgbClr val="087F78"/>
                </a:solidFill>
              </a:defRPr>
            </a:lvl8pPr>
            <a:lvl9pPr>
              <a:buNone/>
              <a:defRPr sz="2925" b="1">
                <a:solidFill>
                  <a:srgbClr val="087F78"/>
                </a:solidFill>
              </a:defRPr>
            </a:lvl9pPr>
          </a:lstStyle>
          <a:p xmlns:a="http://schemas.openxmlformats.org/drawingml/2006/main">
            <a:pPr>
              <a:buNone/>
              <a:defRPr sz="2925" b="1">
                <a:solidFill>
                  <a:srgbClr val="087F78"/>
                </a:solidFill>
              </a:defRPr>
            </a:pPr>
            <a:r>
              <a:rPr sz="2925" b="1">
                <a:solidFill>
                  <a:srgbClr val="087F78"/>
                </a:solidFill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BB7E0-BB9F-44D8-8D83-7315BC14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62125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087F78"/>
                </a:solidFill>
              </a:defRPr>
            </a:defPPr>
            <a:lvl1pPr>
              <a:buNone/>
              <a:defRPr sz="2925" b="1">
                <a:solidFill>
                  <a:srgbClr val="087F78"/>
                </a:solidFill>
              </a:defRPr>
            </a:lvl1pPr>
            <a:lvl2pPr>
              <a:buNone/>
              <a:defRPr sz="2925" b="1">
                <a:solidFill>
                  <a:srgbClr val="087F78"/>
                </a:solidFill>
              </a:defRPr>
            </a:lvl2pPr>
            <a:lvl3pPr>
              <a:buNone/>
              <a:defRPr sz="2925" b="1">
                <a:solidFill>
                  <a:srgbClr val="087F78"/>
                </a:solidFill>
              </a:defRPr>
            </a:lvl3pPr>
            <a:lvl4pPr>
              <a:buNone/>
              <a:defRPr sz="2925" b="1">
                <a:solidFill>
                  <a:srgbClr val="087F78"/>
                </a:solidFill>
              </a:defRPr>
            </a:lvl4pPr>
            <a:lvl5pPr>
              <a:buNone/>
              <a:defRPr sz="2925" b="1">
                <a:solidFill>
                  <a:srgbClr val="087F78"/>
                </a:solidFill>
              </a:defRPr>
            </a:lvl5pPr>
            <a:lvl6pPr>
              <a:buNone/>
              <a:defRPr sz="2925" b="1">
                <a:solidFill>
                  <a:srgbClr val="087F78"/>
                </a:solidFill>
              </a:defRPr>
            </a:lvl6pPr>
            <a:lvl7pPr>
              <a:buNone/>
              <a:defRPr sz="2925" b="1">
                <a:solidFill>
                  <a:srgbClr val="087F78"/>
                </a:solidFill>
              </a:defRPr>
            </a:lvl7pPr>
            <a:lvl8pPr>
              <a:buNone/>
              <a:defRPr sz="2925" b="1">
                <a:solidFill>
                  <a:srgbClr val="087F78"/>
                </a:solidFill>
              </a:defRPr>
            </a:lvl8pPr>
            <a:lvl9pPr>
              <a:buNone/>
              <a:defRPr sz="2925" b="1">
                <a:solidFill>
                  <a:srgbClr val="087F78"/>
                </a:solidFill>
              </a:defRPr>
            </a:lvl9pPr>
          </a:lstStyle>
          <a:p xmlns:a="http://schemas.openxmlformats.org/drawingml/2006/main">
            <a:pPr>
              <a:buNone/>
              <a:defRPr sz="2925" b="1">
                <a:solidFill>
                  <a:srgbClr val="087F78"/>
                </a:solidFill>
              </a:defRPr>
            </a:pPr>
            <a:r>
              <a:rPr sz="2925" b="1">
                <a:solidFill>
                  <a:srgbClr val="087F78"/>
                </a:solidFill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A655D-4049-453E-BDB4-D3F05FC1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087F78"/>
                </a:solidFill>
              </a:defRPr>
            </a:defPPr>
            <a:lvl1pPr>
              <a:buNone/>
              <a:defRPr sz="2925" b="1">
                <a:solidFill>
                  <a:srgbClr val="087F78"/>
                </a:solidFill>
              </a:defRPr>
            </a:lvl1pPr>
            <a:lvl2pPr>
              <a:buNone/>
              <a:defRPr sz="2925" b="1">
                <a:solidFill>
                  <a:srgbClr val="087F78"/>
                </a:solidFill>
              </a:defRPr>
            </a:lvl2pPr>
            <a:lvl3pPr>
              <a:buNone/>
              <a:defRPr sz="2925" b="1">
                <a:solidFill>
                  <a:srgbClr val="087F78"/>
                </a:solidFill>
              </a:defRPr>
            </a:lvl3pPr>
            <a:lvl4pPr>
              <a:buNone/>
              <a:defRPr sz="2925" b="1">
                <a:solidFill>
                  <a:srgbClr val="087F78"/>
                </a:solidFill>
              </a:defRPr>
            </a:lvl4pPr>
            <a:lvl5pPr>
              <a:buNone/>
              <a:defRPr sz="2925" b="1">
                <a:solidFill>
                  <a:srgbClr val="087F78"/>
                </a:solidFill>
              </a:defRPr>
            </a:lvl5pPr>
            <a:lvl6pPr>
              <a:buNone/>
              <a:defRPr sz="2925" b="1">
                <a:solidFill>
                  <a:srgbClr val="087F78"/>
                </a:solidFill>
              </a:defRPr>
            </a:lvl6pPr>
            <a:lvl7pPr>
              <a:buNone/>
              <a:defRPr sz="2925" b="1">
                <a:solidFill>
                  <a:srgbClr val="087F78"/>
                </a:solidFill>
              </a:defRPr>
            </a:lvl7pPr>
            <a:lvl8pPr>
              <a:buNone/>
              <a:defRPr sz="2925" b="1">
                <a:solidFill>
                  <a:srgbClr val="087F78"/>
                </a:solidFill>
              </a:defRPr>
            </a:lvl8pPr>
            <a:lvl9pPr>
              <a:buNone/>
              <a:defRPr sz="2925" b="1">
                <a:solidFill>
                  <a:srgbClr val="087F78"/>
                </a:solidFill>
              </a:defRPr>
            </a:lvl9pPr>
          </a:lstStyle>
          <a:p xmlns:a="http://schemas.openxmlformats.org/drawingml/2006/main">
            <a:pPr>
              <a:buNone/>
              <a:defRPr sz="2925" b="1">
                <a:solidFill>
                  <a:srgbClr val="087F78"/>
                </a:solidFill>
              </a:defRPr>
            </a:pPr>
            <a:r>
              <a:rPr sz="2925" b="1">
                <a:solidFill>
                  <a:srgbClr val="087F78"/>
                </a:solidFill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A97DE-B85C-4F34-BE2D-86987AB7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5275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087F78"/>
                </a:solidFill>
              </a:defRPr>
            </a:defPPr>
            <a:lvl1pPr>
              <a:buNone/>
              <a:defRPr sz="2925" b="1">
                <a:solidFill>
                  <a:srgbClr val="087F78"/>
                </a:solidFill>
              </a:defRPr>
            </a:lvl1pPr>
            <a:lvl2pPr>
              <a:buNone/>
              <a:defRPr sz="2925" b="1">
                <a:solidFill>
                  <a:srgbClr val="087F78"/>
                </a:solidFill>
              </a:defRPr>
            </a:lvl2pPr>
            <a:lvl3pPr>
              <a:buNone/>
              <a:defRPr sz="2925" b="1">
                <a:solidFill>
                  <a:srgbClr val="087F78"/>
                </a:solidFill>
              </a:defRPr>
            </a:lvl3pPr>
            <a:lvl4pPr>
              <a:buNone/>
              <a:defRPr sz="2925" b="1">
                <a:solidFill>
                  <a:srgbClr val="087F78"/>
                </a:solidFill>
              </a:defRPr>
            </a:lvl4pPr>
            <a:lvl5pPr>
              <a:buNone/>
              <a:defRPr sz="2925" b="1">
                <a:solidFill>
                  <a:srgbClr val="087F78"/>
                </a:solidFill>
              </a:defRPr>
            </a:lvl5pPr>
            <a:lvl6pPr>
              <a:buNone/>
              <a:defRPr sz="2925" b="1">
                <a:solidFill>
                  <a:srgbClr val="087F78"/>
                </a:solidFill>
              </a:defRPr>
            </a:lvl6pPr>
            <a:lvl7pPr>
              <a:buNone/>
              <a:defRPr sz="2925" b="1">
                <a:solidFill>
                  <a:srgbClr val="087F78"/>
                </a:solidFill>
              </a:defRPr>
            </a:lvl7pPr>
            <a:lvl8pPr>
              <a:buNone/>
              <a:defRPr sz="2925" b="1">
                <a:solidFill>
                  <a:srgbClr val="087F78"/>
                </a:solidFill>
              </a:defRPr>
            </a:lvl8pPr>
            <a:lvl9pPr>
              <a:buNone/>
              <a:defRPr sz="2925" b="1">
                <a:solidFill>
                  <a:srgbClr val="087F78"/>
                </a:solidFill>
              </a:defRPr>
            </a:lvl9pPr>
          </a:lstStyle>
          <a:p xmlns:a="http://schemas.openxmlformats.org/drawingml/2006/main">
            <a:pPr>
              <a:buNone/>
              <a:defRPr sz="2925" b="1">
                <a:solidFill>
                  <a:srgbClr val="087F78"/>
                </a:solidFill>
              </a:defRPr>
            </a:pPr>
            <a:r>
              <a:rPr sz="2925" b="1">
                <a:solidFill>
                  <a:srgbClr val="087F78"/>
                </a:solidFill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7B381-1839-4E37-A0BF-5FCE7F24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102B3F"/>
                </a:solidFill>
              </a:defRPr>
            </a:defPPr>
            <a:lvl1pPr>
              <a:buNone/>
              <a:defRPr sz="2175" b="1">
                <a:solidFill>
                  <a:srgbClr val="102B3F"/>
                </a:solidFill>
              </a:defRPr>
            </a:lvl1pPr>
            <a:lvl2pPr>
              <a:buNone/>
              <a:defRPr sz="2175" b="1">
                <a:solidFill>
                  <a:srgbClr val="102B3F"/>
                </a:solidFill>
              </a:defRPr>
            </a:lvl2pPr>
            <a:lvl3pPr>
              <a:buNone/>
              <a:defRPr sz="2175" b="1">
                <a:solidFill>
                  <a:srgbClr val="102B3F"/>
                </a:solidFill>
              </a:defRPr>
            </a:lvl3pPr>
            <a:lvl4pPr>
              <a:buNone/>
              <a:defRPr sz="2175" b="1">
                <a:solidFill>
                  <a:srgbClr val="102B3F"/>
                </a:solidFill>
              </a:defRPr>
            </a:lvl4pPr>
            <a:lvl5pPr>
              <a:buNone/>
              <a:defRPr sz="2175" b="1">
                <a:solidFill>
                  <a:srgbClr val="102B3F"/>
                </a:solidFill>
              </a:defRPr>
            </a:lvl5pPr>
            <a:lvl6pPr>
              <a:buNone/>
              <a:defRPr sz="2175" b="1">
                <a:solidFill>
                  <a:srgbClr val="102B3F"/>
                </a:solidFill>
              </a:defRPr>
            </a:lvl6pPr>
            <a:lvl7pPr>
              <a:buNone/>
              <a:defRPr sz="2175" b="1">
                <a:solidFill>
                  <a:srgbClr val="102B3F"/>
                </a:solidFill>
              </a:defRPr>
            </a:lvl7pPr>
            <a:lvl8pPr>
              <a:buNone/>
              <a:defRPr sz="2175" b="1">
                <a:solidFill>
                  <a:srgbClr val="102B3F"/>
                </a:solidFill>
              </a:defRPr>
            </a:lvl8pPr>
            <a:lvl9pPr>
              <a:buNone/>
              <a:defRPr sz="2175" b="1">
                <a:solidFill>
                  <a:srgbClr val="102B3F"/>
                </a:solidFill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02B3F"/>
                </a:solidFill>
              </a:defRPr>
            </a:pPr>
            <a:r>
              <a:rPr sz="2175" b="1">
                <a:solidFill>
                  <a:srgbClr val="102B3F"/>
                </a:solidFill>
              </a:rP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38A72-B89C-4875-A885-95CF1F73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26674"/>
                </a:solidFill>
              </a:defRPr>
            </a:defPPr>
            <a:lvl1pPr>
              <a:buNone/>
              <a:defRPr sz="1650" b="0">
                <a:solidFill>
                  <a:srgbClr val="526674"/>
                </a:solidFill>
              </a:defRPr>
            </a:lvl1pPr>
            <a:lvl2pPr>
              <a:buNone/>
              <a:defRPr sz="1650" b="0">
                <a:solidFill>
                  <a:srgbClr val="526674"/>
                </a:solidFill>
              </a:defRPr>
            </a:lvl2pPr>
            <a:lvl3pPr>
              <a:buNone/>
              <a:defRPr sz="1650" b="0">
                <a:solidFill>
                  <a:srgbClr val="526674"/>
                </a:solidFill>
              </a:defRPr>
            </a:lvl3pPr>
            <a:lvl4pPr>
              <a:buNone/>
              <a:defRPr sz="1650" b="0">
                <a:solidFill>
                  <a:srgbClr val="526674"/>
                </a:solidFill>
              </a:defRPr>
            </a:lvl4pPr>
            <a:lvl5pPr>
              <a:buNone/>
              <a:defRPr sz="1650" b="0">
                <a:solidFill>
                  <a:srgbClr val="526674"/>
                </a:solidFill>
              </a:defRPr>
            </a:lvl5pPr>
            <a:lvl6pPr>
              <a:buNone/>
              <a:defRPr sz="1650" b="0">
                <a:solidFill>
                  <a:srgbClr val="526674"/>
                </a:solidFill>
              </a:defRPr>
            </a:lvl6pPr>
            <a:lvl7pPr>
              <a:buNone/>
              <a:defRPr sz="1650" b="0">
                <a:solidFill>
                  <a:srgbClr val="526674"/>
                </a:solidFill>
              </a:defRPr>
            </a:lvl7pPr>
            <a:lvl8pPr>
              <a:buNone/>
              <a:defRPr sz="1650" b="0">
                <a:solidFill>
                  <a:srgbClr val="526674"/>
                </a:solidFill>
              </a:defRPr>
            </a:lvl8pPr>
            <a:lvl9pPr>
              <a:buNone/>
              <a:defRPr sz="1650" b="0">
                <a:solidFill>
                  <a:srgbClr val="526674"/>
                </a:solidFill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674"/>
                </a:solidFill>
              </a:defRPr>
            </a:pPr>
            <a:r>
              <a:rPr sz="1575" b="0">
                <a:solidFill>
                  <a:srgbClr val="526674"/>
                </a:solidFill>
              </a:rPr>
              <a:t>RF: 98/102 positives detected; 32/82 negatives falsely flagged (specificity 0.6098)</a:t>
            </a:r>
          </a:p>
          <a:p xmlns:a="http://schemas.openxmlformats.org/drawingml/2006/main">
            <a:pPr>
              <a:buNone/>
              <a:defRPr sz="1575" b="0">
                <a:solidFill>
                  <a:srgbClr val="526674"/>
                </a:solidFill>
              </a:defRPr>
            </a:pPr>
            <a:r>
              <a:rPr sz="1575" b="0">
                <a:solidFill>
                  <a:srgbClr val="526674"/>
                </a:solidFill>
              </a:rPr>
              <a:t>Cutoff 0.38 is statistical. RF stays selected by nested-CV F1; BN is provisional.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D103D-B7F2-479B-9AFF-20AF22DEB7B8}"/>
              </a:ext>
            </a:extLst>
          </p:cNvPr>
          <p:cNvGraphicFramePr/>
          <p:nvPr/>
        </p:nvGraphicFramePr>
        <p:xfrm>
          <a:off xmlns:a="http://schemas.openxmlformats.org/drawingml/2006/main" x="781050" y="1619250"/>
          <a:ext xmlns:a="http://schemas.openxmlformats.org/drawingml/2006/main" cx="103822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238250"/>
                <a:gridCol w="1571625"/>
                <a:gridCol w="1571625"/>
                <a:gridCol w="1571625"/>
                <a:gridCol w="1571625"/>
              </a:tblGrid>
              <a:tr h="555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1DE"/>
                      </a:solidFill>
                      <a:prstDash val="solid"/>
                    </a:lnL>
                    <a:lnR w="9525">
                      <a:solidFill>
                        <a:srgbClr val="D7E1DE"/>
                      </a:solidFill>
                      <a:prstDash val="solid"/>
                    </a:lnR>
                    <a:lnT w="9525">
                      <a:solidFill>
                        <a:srgbClr val="D7E1DE"/>
                      </a:solidFill>
                      <a:prstDash val="solid"/>
                    </a:lnT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Cutoff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T w="9525">
                      <a:solidFill>
                        <a:srgbClr val="D7E1DE"/>
                      </a:solidFill>
                      <a:prstDash val="solid"/>
                    </a:lnT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Accuracy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T w="9525">
                      <a:solidFill>
                        <a:srgbClr val="D7E1DE"/>
                      </a:solidFill>
                      <a:prstDash val="solid"/>
                    </a:lnT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Recall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T w="9525">
                      <a:solidFill>
                        <a:srgbClr val="D7E1DE"/>
                      </a:solidFill>
                      <a:prstDash val="solid"/>
                    </a:lnT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T w="9525">
                      <a:solidFill>
                        <a:srgbClr val="D7E1DE"/>
                      </a:solidFill>
                      <a:prstDash val="solid"/>
                    </a:lnT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ROC-AUC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T w="9525">
                      <a:solidFill>
                        <a:srgbClr val="D7E1DE"/>
                      </a:solidFill>
                      <a:prstDash val="solid"/>
                    </a:lnT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Logistic regression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1DE"/>
                      </a:solidFill>
                      <a:prstDash val="solid"/>
                    </a:lnL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0.51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0.8315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0.8824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0.8531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0.9125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F4F8F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Random forest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1DE"/>
                      </a:solidFill>
                      <a:prstDash val="solid"/>
                    </a:lnL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DF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0.38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DF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0.8043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DF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0.9608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DF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0.8448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DF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0.9029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DFEEEA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HGB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1DE"/>
                      </a:solidFill>
                      <a:prstDash val="solid"/>
                    </a:lnL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0.37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0.8152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0.9510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0.8509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0.8945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F4F8F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XGBoost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1DE"/>
                      </a:solidFill>
                      <a:prstDash val="solid"/>
                    </a:lnL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0.34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0.8043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0.9804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0.8475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0.9039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F4F8F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BN (provisional)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1DE"/>
                      </a:solidFill>
                      <a:prstDash val="solid"/>
                    </a:lnL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0.54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0.7880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0.8137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0.8098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3F"/>
                          </a:solidFill>
                          <a:latin typeface="Aptos"/>
                          <a:ea typeface="Aptos"/>
                          <a:cs typeface="Aptos"/>
                        </a:rPr>
                        <a:t>0.8765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1DE"/>
                      </a:solidFill>
                      <a:prstDash val="solid"/>
                    </a:lnR>
                    <a:lnB w="9525">
                      <a:solidFill>
                        <a:srgbClr val="D7E1DE"/>
                      </a:solidFill>
                      <a:prstDash val="soli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45808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07408-DD17-4316-A129-C3A54F41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02B3F"/>
                </a:solidFill>
              </a:defRPr>
            </a:defPPr>
            <a:lvl1pPr>
              <a:buNone/>
              <a:defRPr sz="3150" b="1">
                <a:solidFill>
                  <a:srgbClr val="102B3F"/>
                </a:solidFill>
              </a:defRPr>
            </a:lvl1pPr>
            <a:lvl2pPr>
              <a:buNone/>
              <a:defRPr sz="3150" b="1">
                <a:solidFill>
                  <a:srgbClr val="102B3F"/>
                </a:solidFill>
              </a:defRPr>
            </a:lvl2pPr>
            <a:lvl3pPr>
              <a:buNone/>
              <a:defRPr sz="3150" b="1">
                <a:solidFill>
                  <a:srgbClr val="102B3F"/>
                </a:solidFill>
              </a:defRPr>
            </a:lvl3pPr>
            <a:lvl4pPr>
              <a:buNone/>
              <a:defRPr sz="3150" b="1">
                <a:solidFill>
                  <a:srgbClr val="102B3F"/>
                </a:solidFill>
              </a:defRPr>
            </a:lvl4pPr>
            <a:lvl5pPr>
              <a:buNone/>
              <a:defRPr sz="3150" b="1">
                <a:solidFill>
                  <a:srgbClr val="102B3F"/>
                </a:solidFill>
              </a:defRPr>
            </a:lvl5pPr>
            <a:lvl6pPr>
              <a:buNone/>
              <a:defRPr sz="3150" b="1">
                <a:solidFill>
                  <a:srgbClr val="102B3F"/>
                </a:solidFill>
              </a:defRPr>
            </a:lvl6pPr>
            <a:lvl7pPr>
              <a:buNone/>
              <a:defRPr sz="3150" b="1">
                <a:solidFill>
                  <a:srgbClr val="102B3F"/>
                </a:solidFill>
              </a:defRPr>
            </a:lvl7pPr>
            <a:lvl8pPr>
              <a:buNone/>
              <a:defRPr sz="3150" b="1">
                <a:solidFill>
                  <a:srgbClr val="102B3F"/>
                </a:solidFill>
              </a:defRPr>
            </a:lvl8pPr>
            <a:lvl9pPr>
              <a:buNone/>
              <a:defRPr sz="3150" b="1">
                <a:solidFill>
                  <a:srgbClr val="102B3F"/>
                </a:solidFill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02B3F"/>
                </a:solidFill>
              </a:defRPr>
            </a:pPr>
            <a:r>
              <a:rPr sz="2700" b="1">
                <a:solidFill>
                  <a:srgbClr val="102B3F"/>
                </a:solidFill>
              </a:rPr>
              <a:t>Hospital F1 minus always-positive F1 (pp)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EA552-4B08-4B1D-A88A-41A35E0B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674"/>
                </a:solidFill>
              </a:defRPr>
            </a:defPPr>
            <a:lvl1pPr>
              <a:buNone/>
              <a:defRPr sz="1125" b="0">
                <a:solidFill>
                  <a:srgbClr val="526674"/>
                </a:solidFill>
              </a:defRPr>
            </a:lvl1pPr>
            <a:lvl2pPr>
              <a:buNone/>
              <a:defRPr sz="1125" b="0">
                <a:solidFill>
                  <a:srgbClr val="526674"/>
                </a:solidFill>
              </a:defRPr>
            </a:lvl2pPr>
            <a:lvl3pPr>
              <a:buNone/>
              <a:defRPr sz="1125" b="0">
                <a:solidFill>
                  <a:srgbClr val="526674"/>
                </a:solidFill>
              </a:defRPr>
            </a:lvl3pPr>
            <a:lvl4pPr>
              <a:buNone/>
              <a:defRPr sz="1125" b="0">
                <a:solidFill>
                  <a:srgbClr val="526674"/>
                </a:solidFill>
              </a:defRPr>
            </a:lvl4pPr>
            <a:lvl5pPr>
              <a:buNone/>
              <a:defRPr sz="1125" b="0">
                <a:solidFill>
                  <a:srgbClr val="526674"/>
                </a:solidFill>
              </a:defRPr>
            </a:lvl5pPr>
            <a:lvl6pPr>
              <a:buNone/>
              <a:defRPr sz="1125" b="0">
                <a:solidFill>
                  <a:srgbClr val="526674"/>
                </a:solidFill>
              </a:defRPr>
            </a:lvl6pPr>
            <a:lvl7pPr>
              <a:buNone/>
              <a:defRPr sz="1125" b="0">
                <a:solidFill>
                  <a:srgbClr val="526674"/>
                </a:solidFill>
              </a:defRPr>
            </a:lvl7pPr>
            <a:lvl8pPr>
              <a:buNone/>
              <a:defRPr sz="1125" b="0">
                <a:solidFill>
                  <a:srgbClr val="526674"/>
                </a:solidFill>
              </a:defRPr>
            </a:lvl8pPr>
            <a:lvl9pPr>
              <a:buNone/>
              <a:defRPr sz="1125" b="0">
                <a:solidFill>
                  <a:srgbClr val="526674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674"/>
                </a:solidFill>
              </a:defRPr>
            </a:pPr>
            <a:r>
              <a:rPr sz="1125" b="0">
                <a:solidFill>
                  <a:srgbClr val="526674"/>
                </a:solidFill>
              </a:rPr>
              <a:t>7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D1072-D019-4D51-BD31-206CD0F5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674"/>
                </a:solidFill>
              </a:defRPr>
            </a:defPPr>
            <a:lvl1pPr>
              <a:buNone/>
              <a:defRPr sz="1125" b="0">
                <a:solidFill>
                  <a:srgbClr val="526674"/>
                </a:solidFill>
              </a:defRPr>
            </a:lvl1pPr>
            <a:lvl2pPr>
              <a:buNone/>
              <a:defRPr sz="1125" b="0">
                <a:solidFill>
                  <a:srgbClr val="526674"/>
                </a:solidFill>
              </a:defRPr>
            </a:lvl2pPr>
            <a:lvl3pPr>
              <a:buNone/>
              <a:defRPr sz="1125" b="0">
                <a:solidFill>
                  <a:srgbClr val="526674"/>
                </a:solidFill>
              </a:defRPr>
            </a:lvl3pPr>
            <a:lvl4pPr>
              <a:buNone/>
              <a:defRPr sz="1125" b="0">
                <a:solidFill>
                  <a:srgbClr val="526674"/>
                </a:solidFill>
              </a:defRPr>
            </a:lvl4pPr>
            <a:lvl5pPr>
              <a:buNone/>
              <a:defRPr sz="1125" b="0">
                <a:solidFill>
                  <a:srgbClr val="526674"/>
                </a:solidFill>
              </a:defRPr>
            </a:lvl5pPr>
            <a:lvl6pPr>
              <a:buNone/>
              <a:defRPr sz="1125" b="0">
                <a:solidFill>
                  <a:srgbClr val="526674"/>
                </a:solidFill>
              </a:defRPr>
            </a:lvl6pPr>
            <a:lvl7pPr>
              <a:buNone/>
              <a:defRPr sz="1125" b="0">
                <a:solidFill>
                  <a:srgbClr val="526674"/>
                </a:solidFill>
              </a:defRPr>
            </a:lvl7pPr>
            <a:lvl8pPr>
              <a:buNone/>
              <a:defRPr sz="1125" b="0">
                <a:solidFill>
                  <a:srgbClr val="526674"/>
                </a:solidFill>
              </a:defRPr>
            </a:lvl8pPr>
            <a:lvl9pPr>
              <a:buNone/>
              <a:defRPr sz="1125" b="0">
                <a:solidFill>
                  <a:srgbClr val="526674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674"/>
                </a:solidFill>
              </a:defRPr>
            </a:pPr>
            <a:r>
              <a:rPr sz="1125" b="0">
                <a:solidFill>
                  <a:srgbClr val="526674"/>
                </a:solidFill>
              </a:rPr>
              <a:t>Local family and cutoff selected without the held-out hospital. Zero means equal positive-class F1.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1E8CE3C-17A7-4DC0-8889-934BD5B5A6A1}"/>
              </a:ext>
            </a:extLst>
          </p:cNvPr>
          <p:cNvGraphicFramePr/>
          <p:nvPr/>
        </p:nvGraphicFramePr>
        <p:xfrm>
          <a:off xmlns:a="http://schemas.openxmlformats.org/drawingml/2006/main" x="809625" y="1666875"/>
          <a:ext xmlns:a="http://schemas.openxmlformats.org/drawingml/2006/main" cx="10287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a4114b2ccd447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4FA40-3BAC-49E3-A636-4BF34F85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526674"/>
                </a:solidFill>
              </a:defRPr>
            </a:defPPr>
            <a:lvl1pPr>
              <a:buNone/>
              <a:defRPr sz="1650" b="0">
                <a:solidFill>
                  <a:srgbClr val="526674"/>
                </a:solidFill>
              </a:defRPr>
            </a:lvl1pPr>
            <a:lvl2pPr>
              <a:buNone/>
              <a:defRPr sz="1650" b="0">
                <a:solidFill>
                  <a:srgbClr val="526674"/>
                </a:solidFill>
              </a:defRPr>
            </a:lvl2pPr>
            <a:lvl3pPr>
              <a:buNone/>
              <a:defRPr sz="1650" b="0">
                <a:solidFill>
                  <a:srgbClr val="526674"/>
                </a:solidFill>
              </a:defRPr>
            </a:lvl3pPr>
            <a:lvl4pPr>
              <a:buNone/>
              <a:defRPr sz="1650" b="0">
                <a:solidFill>
                  <a:srgbClr val="526674"/>
                </a:solidFill>
              </a:defRPr>
            </a:lvl4pPr>
            <a:lvl5pPr>
              <a:buNone/>
              <a:defRPr sz="1650" b="0">
                <a:solidFill>
                  <a:srgbClr val="526674"/>
                </a:solidFill>
              </a:defRPr>
            </a:lvl5pPr>
            <a:lvl6pPr>
              <a:buNone/>
              <a:defRPr sz="1650" b="0">
                <a:solidFill>
                  <a:srgbClr val="526674"/>
                </a:solidFill>
              </a:defRPr>
            </a:lvl6pPr>
            <a:lvl7pPr>
              <a:buNone/>
              <a:defRPr sz="1650" b="0">
                <a:solidFill>
                  <a:srgbClr val="526674"/>
                </a:solidFill>
              </a:defRPr>
            </a:lvl7pPr>
            <a:lvl8pPr>
              <a:buNone/>
              <a:defRPr sz="1650" b="0">
                <a:solidFill>
                  <a:srgbClr val="526674"/>
                </a:solidFill>
              </a:defRPr>
            </a:lvl8pPr>
            <a:lvl9pPr>
              <a:buNone/>
              <a:defRPr sz="1650" b="0">
                <a:solidFill>
                  <a:srgbClr val="526674"/>
                </a:solidFill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26674"/>
                </a:solidFill>
              </a:defRPr>
            </a:pPr>
            <a:r>
              <a:rPr sz="1650" b="0">
                <a:solidFill>
                  <a:srgbClr val="526674"/>
                </a:solidFill>
              </a:rPr>
              <a:t>Switzerland: RF F1 0.8712 &lt; reference 0.9565 (88/96 positive)</a:t>
            </a:r>
          </a:p>
          <a:p xmlns:a="http://schemas.openxmlformats.org/drawingml/2006/main">
            <a:pPr>
              <a:buNone/>
              <a:defRPr sz="1650" b="0">
                <a:solidFill>
                  <a:srgbClr val="526674"/>
                </a:solidFill>
              </a:defRPr>
            </a:pPr>
            <a:r>
              <a:rPr sz="1650" b="0">
                <a:solidFill>
                  <a:srgbClr val="526674"/>
                </a:solidFill>
              </a:rPr>
              <a:t>VA Long Beach: specificity 0.05; only 2/40 negatives correctly rejected</a:t>
            </a:r>
          </a:p>
        </p:txBody>
      </p:sp>
    </p:spTree>
    <p:extLst>
      <p:ext uri="{BB962C8B-B14F-4D97-AF65-F5344CB8AC3E}">
        <p14:creationId xmlns:p14="http://schemas.microsoft.com/office/powerpoint/2010/main" val="5578481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56563-6224-4E7B-AB82-AF543217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02B3F"/>
                </a:solidFill>
              </a:defRPr>
            </a:defPPr>
            <a:lvl1pPr>
              <a:buNone/>
              <a:defRPr sz="3150" b="1">
                <a:solidFill>
                  <a:srgbClr val="102B3F"/>
                </a:solidFill>
              </a:defRPr>
            </a:lvl1pPr>
            <a:lvl2pPr>
              <a:buNone/>
              <a:defRPr sz="3150" b="1">
                <a:solidFill>
                  <a:srgbClr val="102B3F"/>
                </a:solidFill>
              </a:defRPr>
            </a:lvl2pPr>
            <a:lvl3pPr>
              <a:buNone/>
              <a:defRPr sz="3150" b="1">
                <a:solidFill>
                  <a:srgbClr val="102B3F"/>
                </a:solidFill>
              </a:defRPr>
            </a:lvl3pPr>
            <a:lvl4pPr>
              <a:buNone/>
              <a:defRPr sz="3150" b="1">
                <a:solidFill>
                  <a:srgbClr val="102B3F"/>
                </a:solidFill>
              </a:defRPr>
            </a:lvl4pPr>
            <a:lvl5pPr>
              <a:buNone/>
              <a:defRPr sz="3150" b="1">
                <a:solidFill>
                  <a:srgbClr val="102B3F"/>
                </a:solidFill>
              </a:defRPr>
            </a:lvl5pPr>
            <a:lvl6pPr>
              <a:buNone/>
              <a:defRPr sz="3150" b="1">
                <a:solidFill>
                  <a:srgbClr val="102B3F"/>
                </a:solidFill>
              </a:defRPr>
            </a:lvl6pPr>
            <a:lvl7pPr>
              <a:buNone/>
              <a:defRPr sz="3150" b="1">
                <a:solidFill>
                  <a:srgbClr val="102B3F"/>
                </a:solidFill>
              </a:defRPr>
            </a:lvl7pPr>
            <a:lvl8pPr>
              <a:buNone/>
              <a:defRPr sz="3150" b="1">
                <a:solidFill>
                  <a:srgbClr val="102B3F"/>
                </a:solidFill>
              </a:defRPr>
            </a:lvl8pPr>
            <a:lvl9pPr>
              <a:buNone/>
              <a:defRPr sz="3150" b="1">
                <a:solidFill>
                  <a:srgbClr val="102B3F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02B3F"/>
                </a:solidFill>
              </a:defRPr>
            </a:pPr>
            <a:r>
              <a:rPr sz="3150" b="1">
                <a:solidFill>
                  <a:srgbClr val="102B3F"/>
                </a:solidFill>
              </a:rPr>
              <a:t>Provisional Bayesian Network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36AA6-8688-4AC6-BE5E-B010002C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674"/>
                </a:solidFill>
              </a:defRPr>
            </a:defPPr>
            <a:lvl1pPr>
              <a:buNone/>
              <a:defRPr sz="1125" b="0">
                <a:solidFill>
                  <a:srgbClr val="526674"/>
                </a:solidFill>
              </a:defRPr>
            </a:lvl1pPr>
            <a:lvl2pPr>
              <a:buNone/>
              <a:defRPr sz="1125" b="0">
                <a:solidFill>
                  <a:srgbClr val="526674"/>
                </a:solidFill>
              </a:defRPr>
            </a:lvl2pPr>
            <a:lvl3pPr>
              <a:buNone/>
              <a:defRPr sz="1125" b="0">
                <a:solidFill>
                  <a:srgbClr val="526674"/>
                </a:solidFill>
              </a:defRPr>
            </a:lvl3pPr>
            <a:lvl4pPr>
              <a:buNone/>
              <a:defRPr sz="1125" b="0">
                <a:solidFill>
                  <a:srgbClr val="526674"/>
                </a:solidFill>
              </a:defRPr>
            </a:lvl4pPr>
            <a:lvl5pPr>
              <a:buNone/>
              <a:defRPr sz="1125" b="0">
                <a:solidFill>
                  <a:srgbClr val="526674"/>
                </a:solidFill>
              </a:defRPr>
            </a:lvl5pPr>
            <a:lvl6pPr>
              <a:buNone/>
              <a:defRPr sz="1125" b="0">
                <a:solidFill>
                  <a:srgbClr val="526674"/>
                </a:solidFill>
              </a:defRPr>
            </a:lvl6pPr>
            <a:lvl7pPr>
              <a:buNone/>
              <a:defRPr sz="1125" b="0">
                <a:solidFill>
                  <a:srgbClr val="526674"/>
                </a:solidFill>
              </a:defRPr>
            </a:lvl7pPr>
            <a:lvl8pPr>
              <a:buNone/>
              <a:defRPr sz="1125" b="0">
                <a:solidFill>
                  <a:srgbClr val="526674"/>
                </a:solidFill>
              </a:defRPr>
            </a:lvl8pPr>
            <a:lvl9pPr>
              <a:buNone/>
              <a:defRPr sz="1125" b="0">
                <a:solidFill>
                  <a:srgbClr val="526674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674"/>
                </a:solidFill>
              </a:defRPr>
            </a:pPr>
            <a:r>
              <a:rPr sz="1125" b="0">
                <a:solidFill>
                  <a:srgbClr val="526674"/>
                </a:solidFill>
              </a:rPr>
              <a:t>8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28B7A-B55C-40EB-A921-D899A6E3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38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87F78"/>
                </a:solidFill>
              </a:defRPr>
            </a:defPPr>
            <a:lvl1pPr>
              <a:buNone/>
              <a:defRPr sz="1950" b="1">
                <a:solidFill>
                  <a:srgbClr val="087F78"/>
                </a:solidFill>
              </a:defRPr>
            </a:lvl1pPr>
            <a:lvl2pPr>
              <a:buNone/>
              <a:defRPr sz="1950" b="1">
                <a:solidFill>
                  <a:srgbClr val="087F78"/>
                </a:solidFill>
              </a:defRPr>
            </a:lvl2pPr>
            <a:lvl3pPr>
              <a:buNone/>
              <a:defRPr sz="1950" b="1">
                <a:solidFill>
                  <a:srgbClr val="087F78"/>
                </a:solidFill>
              </a:defRPr>
            </a:lvl3pPr>
            <a:lvl4pPr>
              <a:buNone/>
              <a:defRPr sz="1950" b="1">
                <a:solidFill>
                  <a:srgbClr val="087F78"/>
                </a:solidFill>
              </a:defRPr>
            </a:lvl4pPr>
            <a:lvl5pPr>
              <a:buNone/>
              <a:defRPr sz="1950" b="1">
                <a:solidFill>
                  <a:srgbClr val="087F78"/>
                </a:solidFill>
              </a:defRPr>
            </a:lvl5pPr>
            <a:lvl6pPr>
              <a:buNone/>
              <a:defRPr sz="1950" b="1">
                <a:solidFill>
                  <a:srgbClr val="087F78"/>
                </a:solidFill>
              </a:defRPr>
            </a:lvl6pPr>
            <a:lvl7pPr>
              <a:buNone/>
              <a:defRPr sz="1950" b="1">
                <a:solidFill>
                  <a:srgbClr val="087F78"/>
                </a:solidFill>
              </a:defRPr>
            </a:lvl7pPr>
            <a:lvl8pPr>
              <a:buNone/>
              <a:defRPr sz="1950" b="1">
                <a:solidFill>
                  <a:srgbClr val="087F78"/>
                </a:solidFill>
              </a:defRPr>
            </a:lvl8pPr>
            <a:lvl9pPr>
              <a:buNone/>
              <a:defRPr sz="1950" b="1">
                <a:solidFill>
                  <a:srgbClr val="087F78"/>
                </a:solidFill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087F78"/>
                </a:solidFill>
              </a:defRPr>
            </a:pPr>
            <a:r>
              <a:rPr sz="1875" b="1">
                <a:solidFill>
                  <a:srgbClr val="087F78"/>
                </a:solidFill>
              </a:rPr>
              <a:t>DAG: Y -&gt; all 11 features; oldpeak -&gt; slope (manual provisional graph)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7AFEF-7668-4827-BD88-1DB7F411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66975"/>
            <a:ext cx="1038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02B3F"/>
                </a:solidFill>
              </a:defRPr>
            </a:defPPr>
            <a:lvl1pPr>
              <a:buNone/>
              <a:defRPr sz="1950" b="0">
                <a:solidFill>
                  <a:srgbClr val="102B3F"/>
                </a:solidFill>
              </a:defRPr>
            </a:lvl1pPr>
            <a:lvl2pPr>
              <a:buNone/>
              <a:defRPr sz="1950" b="0">
                <a:solidFill>
                  <a:srgbClr val="102B3F"/>
                </a:solidFill>
              </a:defRPr>
            </a:lvl2pPr>
            <a:lvl3pPr>
              <a:buNone/>
              <a:defRPr sz="1950" b="0">
                <a:solidFill>
                  <a:srgbClr val="102B3F"/>
                </a:solidFill>
              </a:defRPr>
            </a:lvl3pPr>
            <a:lvl4pPr>
              <a:buNone/>
              <a:defRPr sz="1950" b="0">
                <a:solidFill>
                  <a:srgbClr val="102B3F"/>
                </a:solidFill>
              </a:defRPr>
            </a:lvl4pPr>
            <a:lvl5pPr>
              <a:buNone/>
              <a:defRPr sz="1950" b="0">
                <a:solidFill>
                  <a:srgbClr val="102B3F"/>
                </a:solidFill>
              </a:defRPr>
            </a:lvl5pPr>
            <a:lvl6pPr>
              <a:buNone/>
              <a:defRPr sz="1950" b="0">
                <a:solidFill>
                  <a:srgbClr val="102B3F"/>
                </a:solidFill>
              </a:defRPr>
            </a:lvl6pPr>
            <a:lvl7pPr>
              <a:buNone/>
              <a:defRPr sz="1950" b="0">
                <a:solidFill>
                  <a:srgbClr val="102B3F"/>
                </a:solidFill>
              </a:defRPr>
            </a:lvl7pPr>
            <a:lvl8pPr>
              <a:buNone/>
              <a:defRPr sz="1950" b="0">
                <a:solidFill>
                  <a:srgbClr val="102B3F"/>
                </a:solidFill>
              </a:defRPr>
            </a:lvl8pPr>
            <a:lvl9pPr>
              <a:buNone/>
              <a:defRPr sz="1950" b="0">
                <a:solidFill>
                  <a:srgbClr val="102B3F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B3F"/>
                </a:solidFill>
              </a:defRPr>
            </a:pPr>
            <a:r>
              <a:rPr sz="1875" b="0">
                <a:solidFill>
                  <a:srgbClr val="102B3F"/>
                </a:solidFill>
              </a:rPr>
              <a:t>BN theory and UCI ST definitions do not validate these medical edges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5AF46-39BF-4AC1-8591-ABA02464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1038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02B3F"/>
                </a:solidFill>
              </a:defRPr>
            </a:defPPr>
            <a:lvl1pPr>
              <a:buNone/>
              <a:defRPr sz="1950" b="0">
                <a:solidFill>
                  <a:srgbClr val="102B3F"/>
                </a:solidFill>
              </a:defRPr>
            </a:lvl1pPr>
            <a:lvl2pPr>
              <a:buNone/>
              <a:defRPr sz="1950" b="0">
                <a:solidFill>
                  <a:srgbClr val="102B3F"/>
                </a:solidFill>
              </a:defRPr>
            </a:lvl2pPr>
            <a:lvl3pPr>
              <a:buNone/>
              <a:defRPr sz="1950" b="0">
                <a:solidFill>
                  <a:srgbClr val="102B3F"/>
                </a:solidFill>
              </a:defRPr>
            </a:lvl3pPr>
            <a:lvl4pPr>
              <a:buNone/>
              <a:defRPr sz="1950" b="0">
                <a:solidFill>
                  <a:srgbClr val="102B3F"/>
                </a:solidFill>
              </a:defRPr>
            </a:lvl4pPr>
            <a:lvl5pPr>
              <a:buNone/>
              <a:defRPr sz="1950" b="0">
                <a:solidFill>
                  <a:srgbClr val="102B3F"/>
                </a:solidFill>
              </a:defRPr>
            </a:lvl5pPr>
            <a:lvl6pPr>
              <a:buNone/>
              <a:defRPr sz="1950" b="0">
                <a:solidFill>
                  <a:srgbClr val="102B3F"/>
                </a:solidFill>
              </a:defRPr>
            </a:lvl6pPr>
            <a:lvl7pPr>
              <a:buNone/>
              <a:defRPr sz="1950" b="0">
                <a:solidFill>
                  <a:srgbClr val="102B3F"/>
                </a:solidFill>
              </a:defRPr>
            </a:lvl7pPr>
            <a:lvl8pPr>
              <a:buNone/>
              <a:defRPr sz="1950" b="0">
                <a:solidFill>
                  <a:srgbClr val="102B3F"/>
                </a:solidFill>
              </a:defRPr>
            </a:lvl8pPr>
            <a:lvl9pPr>
              <a:buNone/>
              <a:defRPr sz="1950" b="0">
                <a:solidFill>
                  <a:srgbClr val="102B3F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B3F"/>
                </a:solidFill>
              </a:defRPr>
            </a:pPr>
            <a:r>
              <a:rPr sz="1875" b="0">
                <a:solidFill>
                  <a:srgbClr val="102B3F"/>
                </a:solidFill>
              </a:rPr>
              <a:t>CPTs: (count + alpha)/(parent count + K alpha), with alpha =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C09EF-035E-4F7E-B741-E68976A2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62425"/>
            <a:ext cx="1038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02B3F"/>
                </a:solidFill>
              </a:defRPr>
            </a:defPPr>
            <a:lvl1pPr>
              <a:buNone/>
              <a:defRPr sz="1950" b="0">
                <a:solidFill>
                  <a:srgbClr val="102B3F"/>
                </a:solidFill>
              </a:defRPr>
            </a:lvl1pPr>
            <a:lvl2pPr>
              <a:buNone/>
              <a:defRPr sz="1950" b="0">
                <a:solidFill>
                  <a:srgbClr val="102B3F"/>
                </a:solidFill>
              </a:defRPr>
            </a:lvl2pPr>
            <a:lvl3pPr>
              <a:buNone/>
              <a:defRPr sz="1950" b="0">
                <a:solidFill>
                  <a:srgbClr val="102B3F"/>
                </a:solidFill>
              </a:defRPr>
            </a:lvl3pPr>
            <a:lvl4pPr>
              <a:buNone/>
              <a:defRPr sz="1950" b="0">
                <a:solidFill>
                  <a:srgbClr val="102B3F"/>
                </a:solidFill>
              </a:defRPr>
            </a:lvl4pPr>
            <a:lvl5pPr>
              <a:buNone/>
              <a:defRPr sz="1950" b="0">
                <a:solidFill>
                  <a:srgbClr val="102B3F"/>
                </a:solidFill>
              </a:defRPr>
            </a:lvl5pPr>
            <a:lvl6pPr>
              <a:buNone/>
              <a:defRPr sz="1950" b="0">
                <a:solidFill>
                  <a:srgbClr val="102B3F"/>
                </a:solidFill>
              </a:defRPr>
            </a:lvl6pPr>
            <a:lvl7pPr>
              <a:buNone/>
              <a:defRPr sz="1950" b="0">
                <a:solidFill>
                  <a:srgbClr val="102B3F"/>
                </a:solidFill>
              </a:defRPr>
            </a:lvl7pPr>
            <a:lvl8pPr>
              <a:buNone/>
              <a:defRPr sz="1950" b="0">
                <a:solidFill>
                  <a:srgbClr val="102B3F"/>
                </a:solidFill>
              </a:defRPr>
            </a:lvl8pPr>
            <a:lvl9pPr>
              <a:buNone/>
              <a:defRPr sz="1950" b="0">
                <a:solidFill>
                  <a:srgbClr val="102B3F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B3F"/>
                </a:solidFill>
              </a:defRPr>
            </a:pPr>
            <a:r>
              <a:rPr sz="1875" b="0">
                <a:solidFill>
                  <a:srgbClr val="102B3F"/>
                </a:solidFill>
              </a:rPr>
              <a:t>Training-only bins/imputation; exact marginalization of missing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79A31-C44A-4CBD-AC5B-FD8B09B5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038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02B3F"/>
                </a:solidFill>
              </a:defRPr>
            </a:defPPr>
            <a:lvl1pPr>
              <a:buNone/>
              <a:defRPr sz="1950" b="0">
                <a:solidFill>
                  <a:srgbClr val="102B3F"/>
                </a:solidFill>
              </a:defRPr>
            </a:lvl1pPr>
            <a:lvl2pPr>
              <a:buNone/>
              <a:defRPr sz="1950" b="0">
                <a:solidFill>
                  <a:srgbClr val="102B3F"/>
                </a:solidFill>
              </a:defRPr>
            </a:lvl2pPr>
            <a:lvl3pPr>
              <a:buNone/>
              <a:defRPr sz="1950" b="0">
                <a:solidFill>
                  <a:srgbClr val="102B3F"/>
                </a:solidFill>
              </a:defRPr>
            </a:lvl3pPr>
            <a:lvl4pPr>
              <a:buNone/>
              <a:defRPr sz="1950" b="0">
                <a:solidFill>
                  <a:srgbClr val="102B3F"/>
                </a:solidFill>
              </a:defRPr>
            </a:lvl4pPr>
            <a:lvl5pPr>
              <a:buNone/>
              <a:defRPr sz="1950" b="0">
                <a:solidFill>
                  <a:srgbClr val="102B3F"/>
                </a:solidFill>
              </a:defRPr>
            </a:lvl5pPr>
            <a:lvl6pPr>
              <a:buNone/>
              <a:defRPr sz="1950" b="0">
                <a:solidFill>
                  <a:srgbClr val="102B3F"/>
                </a:solidFill>
              </a:defRPr>
            </a:lvl6pPr>
            <a:lvl7pPr>
              <a:buNone/>
              <a:defRPr sz="1950" b="0">
                <a:solidFill>
                  <a:srgbClr val="102B3F"/>
                </a:solidFill>
              </a:defRPr>
            </a:lvl7pPr>
            <a:lvl8pPr>
              <a:buNone/>
              <a:defRPr sz="1950" b="0">
                <a:solidFill>
                  <a:srgbClr val="102B3F"/>
                </a:solidFill>
              </a:defRPr>
            </a:lvl8pPr>
            <a:lvl9pPr>
              <a:buNone/>
              <a:defRPr sz="1950" b="0">
                <a:solidFill>
                  <a:srgbClr val="102B3F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B3F"/>
                </a:solidFill>
              </a:defRPr>
            </a:pPr>
            <a:r>
              <a:rPr sz="1875" b="0">
                <a:solidFill>
                  <a:srgbClr val="102B3F"/>
                </a:solidFill>
              </a:rPr>
              <a:t>12 edges / 54 omitted pairs reviewed; domain justification remains partial</a:t>
            </a:r>
          </a:p>
        </p:txBody>
      </p:sp>
    </p:spTree>
    <p:extLst>
      <p:ext uri="{BB962C8B-B14F-4D97-AF65-F5344CB8AC3E}">
        <p14:creationId xmlns:p14="http://schemas.microsoft.com/office/powerpoint/2010/main" val="6763163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152C8-E494-4305-8AEF-B01D745F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02B3F"/>
                </a:solidFill>
              </a:defRPr>
            </a:defPPr>
            <a:lvl1pPr>
              <a:buNone/>
              <a:defRPr sz="3150" b="1">
                <a:solidFill>
                  <a:srgbClr val="102B3F"/>
                </a:solidFill>
              </a:defRPr>
            </a:lvl1pPr>
            <a:lvl2pPr>
              <a:buNone/>
              <a:defRPr sz="3150" b="1">
                <a:solidFill>
                  <a:srgbClr val="102B3F"/>
                </a:solidFill>
              </a:defRPr>
            </a:lvl2pPr>
            <a:lvl3pPr>
              <a:buNone/>
              <a:defRPr sz="3150" b="1">
                <a:solidFill>
                  <a:srgbClr val="102B3F"/>
                </a:solidFill>
              </a:defRPr>
            </a:lvl3pPr>
            <a:lvl4pPr>
              <a:buNone/>
              <a:defRPr sz="3150" b="1">
                <a:solidFill>
                  <a:srgbClr val="102B3F"/>
                </a:solidFill>
              </a:defRPr>
            </a:lvl4pPr>
            <a:lvl5pPr>
              <a:buNone/>
              <a:defRPr sz="3150" b="1">
                <a:solidFill>
                  <a:srgbClr val="102B3F"/>
                </a:solidFill>
              </a:defRPr>
            </a:lvl5pPr>
            <a:lvl6pPr>
              <a:buNone/>
              <a:defRPr sz="3150" b="1">
                <a:solidFill>
                  <a:srgbClr val="102B3F"/>
                </a:solidFill>
              </a:defRPr>
            </a:lvl6pPr>
            <a:lvl7pPr>
              <a:buNone/>
              <a:defRPr sz="3150" b="1">
                <a:solidFill>
                  <a:srgbClr val="102B3F"/>
                </a:solidFill>
              </a:defRPr>
            </a:lvl7pPr>
            <a:lvl8pPr>
              <a:buNone/>
              <a:defRPr sz="3150" b="1">
                <a:solidFill>
                  <a:srgbClr val="102B3F"/>
                </a:solidFill>
              </a:defRPr>
            </a:lvl8pPr>
            <a:lvl9pPr>
              <a:buNone/>
              <a:defRPr sz="3150" b="1">
                <a:solidFill>
                  <a:srgbClr val="102B3F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02B3F"/>
                </a:solidFill>
              </a:defRPr>
            </a:pPr>
            <a:r>
              <a:rPr sz="3150" b="1">
                <a:solidFill>
                  <a:srgbClr val="102B3F"/>
                </a:solidFill>
              </a:rPr>
              <a:t>Reproducibility, limitations and viva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8F040-F03E-4455-8278-B22A9219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674"/>
                </a:solidFill>
              </a:defRPr>
            </a:defPPr>
            <a:lvl1pPr>
              <a:buNone/>
              <a:defRPr sz="1125" b="0">
                <a:solidFill>
                  <a:srgbClr val="526674"/>
                </a:solidFill>
              </a:defRPr>
            </a:lvl1pPr>
            <a:lvl2pPr>
              <a:buNone/>
              <a:defRPr sz="1125" b="0">
                <a:solidFill>
                  <a:srgbClr val="526674"/>
                </a:solidFill>
              </a:defRPr>
            </a:lvl2pPr>
            <a:lvl3pPr>
              <a:buNone/>
              <a:defRPr sz="1125" b="0">
                <a:solidFill>
                  <a:srgbClr val="526674"/>
                </a:solidFill>
              </a:defRPr>
            </a:lvl3pPr>
            <a:lvl4pPr>
              <a:buNone/>
              <a:defRPr sz="1125" b="0">
                <a:solidFill>
                  <a:srgbClr val="526674"/>
                </a:solidFill>
              </a:defRPr>
            </a:lvl4pPr>
            <a:lvl5pPr>
              <a:buNone/>
              <a:defRPr sz="1125" b="0">
                <a:solidFill>
                  <a:srgbClr val="526674"/>
                </a:solidFill>
              </a:defRPr>
            </a:lvl5pPr>
            <a:lvl6pPr>
              <a:buNone/>
              <a:defRPr sz="1125" b="0">
                <a:solidFill>
                  <a:srgbClr val="526674"/>
                </a:solidFill>
              </a:defRPr>
            </a:lvl6pPr>
            <a:lvl7pPr>
              <a:buNone/>
              <a:defRPr sz="1125" b="0">
                <a:solidFill>
                  <a:srgbClr val="526674"/>
                </a:solidFill>
              </a:defRPr>
            </a:lvl7pPr>
            <a:lvl8pPr>
              <a:buNone/>
              <a:defRPr sz="1125" b="0">
                <a:solidFill>
                  <a:srgbClr val="526674"/>
                </a:solidFill>
              </a:defRPr>
            </a:lvl8pPr>
            <a:lvl9pPr>
              <a:buNone/>
              <a:defRPr sz="1125" b="0">
                <a:solidFill>
                  <a:srgbClr val="526674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674"/>
                </a:solidFill>
              </a:defRPr>
            </a:pPr>
            <a:r>
              <a:rPr sz="1125" b="0">
                <a:solidFill>
                  <a:srgbClr val="526674"/>
                </a:solidFill>
              </a:rPr>
              <a:t>9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51068-25FF-4AF0-A09F-9C770477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382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87F78"/>
                </a:solidFill>
              </a:defRPr>
            </a:defPPr>
            <a:lvl1pPr>
              <a:buNone/>
              <a:defRPr sz="1950" b="1">
                <a:solidFill>
                  <a:srgbClr val="087F78"/>
                </a:solidFill>
              </a:defRPr>
            </a:lvl1pPr>
            <a:lvl2pPr>
              <a:buNone/>
              <a:defRPr sz="1950" b="1">
                <a:solidFill>
                  <a:srgbClr val="087F78"/>
                </a:solidFill>
              </a:defRPr>
            </a:lvl2pPr>
            <a:lvl3pPr>
              <a:buNone/>
              <a:defRPr sz="1950" b="1">
                <a:solidFill>
                  <a:srgbClr val="087F78"/>
                </a:solidFill>
              </a:defRPr>
            </a:lvl3pPr>
            <a:lvl4pPr>
              <a:buNone/>
              <a:defRPr sz="1950" b="1">
                <a:solidFill>
                  <a:srgbClr val="087F78"/>
                </a:solidFill>
              </a:defRPr>
            </a:lvl4pPr>
            <a:lvl5pPr>
              <a:buNone/>
              <a:defRPr sz="1950" b="1">
                <a:solidFill>
                  <a:srgbClr val="087F78"/>
                </a:solidFill>
              </a:defRPr>
            </a:lvl5pPr>
            <a:lvl6pPr>
              <a:buNone/>
              <a:defRPr sz="1950" b="1">
                <a:solidFill>
                  <a:srgbClr val="087F78"/>
                </a:solidFill>
              </a:defRPr>
            </a:lvl6pPr>
            <a:lvl7pPr>
              <a:buNone/>
              <a:defRPr sz="1950" b="1">
                <a:solidFill>
                  <a:srgbClr val="087F78"/>
                </a:solidFill>
              </a:defRPr>
            </a:lvl7pPr>
            <a:lvl8pPr>
              <a:buNone/>
              <a:defRPr sz="1950" b="1">
                <a:solidFill>
                  <a:srgbClr val="087F78"/>
                </a:solidFill>
              </a:defRPr>
            </a:lvl8pPr>
            <a:lvl9pPr>
              <a:buNone/>
              <a:defRPr sz="1950" b="1">
                <a:solidFill>
                  <a:srgbClr val="087F78"/>
                </a:solidFill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087F78"/>
                </a:solidFill>
              </a:defRPr>
            </a:pPr>
            <a:r>
              <a:rPr sz="1875" b="1">
                <a:solidFill>
                  <a:srgbClr val="087F78"/>
                </a:solidFill>
              </a:rPr>
              <a:t>38 tests pass now; all 25 frozen models reproduce saved predictions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6BE2B-5781-4752-B0F7-C3DFC63E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0382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02B3F"/>
                </a:solidFill>
              </a:defRPr>
            </a:defPPr>
            <a:lvl1pPr>
              <a:buNone/>
              <a:defRPr sz="1950" b="0">
                <a:solidFill>
                  <a:srgbClr val="102B3F"/>
                </a:solidFill>
              </a:defRPr>
            </a:lvl1pPr>
            <a:lvl2pPr>
              <a:buNone/>
              <a:defRPr sz="1950" b="0">
                <a:solidFill>
                  <a:srgbClr val="102B3F"/>
                </a:solidFill>
              </a:defRPr>
            </a:lvl2pPr>
            <a:lvl3pPr>
              <a:buNone/>
              <a:defRPr sz="1950" b="0">
                <a:solidFill>
                  <a:srgbClr val="102B3F"/>
                </a:solidFill>
              </a:defRPr>
            </a:lvl3pPr>
            <a:lvl4pPr>
              <a:buNone/>
              <a:defRPr sz="1950" b="0">
                <a:solidFill>
                  <a:srgbClr val="102B3F"/>
                </a:solidFill>
              </a:defRPr>
            </a:lvl4pPr>
            <a:lvl5pPr>
              <a:buNone/>
              <a:defRPr sz="1950" b="0">
                <a:solidFill>
                  <a:srgbClr val="102B3F"/>
                </a:solidFill>
              </a:defRPr>
            </a:lvl5pPr>
            <a:lvl6pPr>
              <a:buNone/>
              <a:defRPr sz="1950" b="0">
                <a:solidFill>
                  <a:srgbClr val="102B3F"/>
                </a:solidFill>
              </a:defRPr>
            </a:lvl6pPr>
            <a:lvl7pPr>
              <a:buNone/>
              <a:defRPr sz="1950" b="0">
                <a:solidFill>
                  <a:srgbClr val="102B3F"/>
                </a:solidFill>
              </a:defRPr>
            </a:lvl7pPr>
            <a:lvl8pPr>
              <a:buNone/>
              <a:defRPr sz="1950" b="0">
                <a:solidFill>
                  <a:srgbClr val="102B3F"/>
                </a:solidFill>
              </a:defRPr>
            </a:lvl8pPr>
            <a:lvl9pPr>
              <a:buNone/>
              <a:defRPr sz="1950" b="0">
                <a:solidFill>
                  <a:srgbClr val="102B3F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B3F"/>
                </a:solidFill>
              </a:defRPr>
            </a:pPr>
            <a:r>
              <a:rPr sz="1875" b="0">
                <a:solidFill>
                  <a:srgbClr val="102B3F"/>
                </a:solidFill>
              </a:rPr>
              <a:t>Original run: 2940 fits in 340.927 seconds; no new training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7D98E-E0CE-45AB-8889-ECEAFFBE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10382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02B3F"/>
                </a:solidFill>
              </a:defRPr>
            </a:defPPr>
            <a:lvl1pPr>
              <a:buNone/>
              <a:defRPr sz="1950" b="0">
                <a:solidFill>
                  <a:srgbClr val="102B3F"/>
                </a:solidFill>
              </a:defRPr>
            </a:lvl1pPr>
            <a:lvl2pPr>
              <a:buNone/>
              <a:defRPr sz="1950" b="0">
                <a:solidFill>
                  <a:srgbClr val="102B3F"/>
                </a:solidFill>
              </a:defRPr>
            </a:lvl2pPr>
            <a:lvl3pPr>
              <a:buNone/>
              <a:defRPr sz="1950" b="0">
                <a:solidFill>
                  <a:srgbClr val="102B3F"/>
                </a:solidFill>
              </a:defRPr>
            </a:lvl3pPr>
            <a:lvl4pPr>
              <a:buNone/>
              <a:defRPr sz="1950" b="0">
                <a:solidFill>
                  <a:srgbClr val="102B3F"/>
                </a:solidFill>
              </a:defRPr>
            </a:lvl4pPr>
            <a:lvl5pPr>
              <a:buNone/>
              <a:defRPr sz="1950" b="0">
                <a:solidFill>
                  <a:srgbClr val="102B3F"/>
                </a:solidFill>
              </a:defRPr>
            </a:lvl5pPr>
            <a:lvl6pPr>
              <a:buNone/>
              <a:defRPr sz="1950" b="0">
                <a:solidFill>
                  <a:srgbClr val="102B3F"/>
                </a:solidFill>
              </a:defRPr>
            </a:lvl6pPr>
            <a:lvl7pPr>
              <a:buNone/>
              <a:defRPr sz="1950" b="0">
                <a:solidFill>
                  <a:srgbClr val="102B3F"/>
                </a:solidFill>
              </a:defRPr>
            </a:lvl7pPr>
            <a:lvl8pPr>
              <a:buNone/>
              <a:defRPr sz="1950" b="0">
                <a:solidFill>
                  <a:srgbClr val="102B3F"/>
                </a:solidFill>
              </a:defRPr>
            </a:lvl8pPr>
            <a:lvl9pPr>
              <a:buNone/>
              <a:defRPr sz="1950" b="0">
                <a:solidFill>
                  <a:srgbClr val="102B3F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B3F"/>
                </a:solidFill>
              </a:defRPr>
            </a:pPr>
            <a:r>
              <a:rPr sz="1875" b="0">
                <a:solidFill>
                  <a:srgbClr val="102B3F"/>
                </a:solidFill>
              </a:rPr>
              <a:t>App loads saved RF (0.38) and provisional BN comparison (0.54)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61090-C0E6-4338-98C1-F4831688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10382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02B3F"/>
                </a:solidFill>
              </a:defRPr>
            </a:defPPr>
            <a:lvl1pPr>
              <a:buNone/>
              <a:defRPr sz="1950" b="0">
                <a:solidFill>
                  <a:srgbClr val="102B3F"/>
                </a:solidFill>
              </a:defRPr>
            </a:lvl1pPr>
            <a:lvl2pPr>
              <a:buNone/>
              <a:defRPr sz="1950" b="0">
                <a:solidFill>
                  <a:srgbClr val="102B3F"/>
                </a:solidFill>
              </a:defRPr>
            </a:lvl2pPr>
            <a:lvl3pPr>
              <a:buNone/>
              <a:defRPr sz="1950" b="0">
                <a:solidFill>
                  <a:srgbClr val="102B3F"/>
                </a:solidFill>
              </a:defRPr>
            </a:lvl3pPr>
            <a:lvl4pPr>
              <a:buNone/>
              <a:defRPr sz="1950" b="0">
                <a:solidFill>
                  <a:srgbClr val="102B3F"/>
                </a:solidFill>
              </a:defRPr>
            </a:lvl4pPr>
            <a:lvl5pPr>
              <a:buNone/>
              <a:defRPr sz="1950" b="0">
                <a:solidFill>
                  <a:srgbClr val="102B3F"/>
                </a:solidFill>
              </a:defRPr>
            </a:lvl5pPr>
            <a:lvl6pPr>
              <a:buNone/>
              <a:defRPr sz="1950" b="0">
                <a:solidFill>
                  <a:srgbClr val="102B3F"/>
                </a:solidFill>
              </a:defRPr>
            </a:lvl6pPr>
            <a:lvl7pPr>
              <a:buNone/>
              <a:defRPr sz="1950" b="0">
                <a:solidFill>
                  <a:srgbClr val="102B3F"/>
                </a:solidFill>
              </a:defRPr>
            </a:lvl7pPr>
            <a:lvl8pPr>
              <a:buNone/>
              <a:defRPr sz="1950" b="0">
                <a:solidFill>
                  <a:srgbClr val="102B3F"/>
                </a:solidFill>
              </a:defRPr>
            </a:lvl8pPr>
            <a:lvl9pPr>
              <a:buNone/>
              <a:defRPr sz="1950" b="0">
                <a:solidFill>
                  <a:srgbClr val="102B3F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B3F"/>
                </a:solidFill>
              </a:defRPr>
            </a:pPr>
            <a:r>
              <a:rPr sz="1875" b="0">
                <a:solidFill>
                  <a:srgbClr val="102B3F"/>
                </a:solidFill>
              </a:rPr>
              <a:t>Prior test exposure, weak site specificity and ID 304 limit conclusions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4643A-DC97-4CEF-A596-D77EF3FF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0382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02B3F"/>
                </a:solidFill>
              </a:defRPr>
            </a:defPPr>
            <a:lvl1pPr>
              <a:buNone/>
              <a:defRPr sz="1950" b="0">
                <a:solidFill>
                  <a:srgbClr val="102B3F"/>
                </a:solidFill>
              </a:defRPr>
            </a:lvl1pPr>
            <a:lvl2pPr>
              <a:buNone/>
              <a:defRPr sz="1950" b="0">
                <a:solidFill>
                  <a:srgbClr val="102B3F"/>
                </a:solidFill>
              </a:defRPr>
            </a:lvl2pPr>
            <a:lvl3pPr>
              <a:buNone/>
              <a:defRPr sz="1950" b="0">
                <a:solidFill>
                  <a:srgbClr val="102B3F"/>
                </a:solidFill>
              </a:defRPr>
            </a:lvl3pPr>
            <a:lvl4pPr>
              <a:buNone/>
              <a:defRPr sz="1950" b="0">
                <a:solidFill>
                  <a:srgbClr val="102B3F"/>
                </a:solidFill>
              </a:defRPr>
            </a:lvl4pPr>
            <a:lvl5pPr>
              <a:buNone/>
              <a:defRPr sz="1950" b="0">
                <a:solidFill>
                  <a:srgbClr val="102B3F"/>
                </a:solidFill>
              </a:defRPr>
            </a:lvl5pPr>
            <a:lvl6pPr>
              <a:buNone/>
              <a:defRPr sz="1950" b="0">
                <a:solidFill>
                  <a:srgbClr val="102B3F"/>
                </a:solidFill>
              </a:defRPr>
            </a:lvl6pPr>
            <a:lvl7pPr>
              <a:buNone/>
              <a:defRPr sz="1950" b="0">
                <a:solidFill>
                  <a:srgbClr val="102B3F"/>
                </a:solidFill>
              </a:defRPr>
            </a:lvl7pPr>
            <a:lvl8pPr>
              <a:buNone/>
              <a:defRPr sz="1950" b="0">
                <a:solidFill>
                  <a:srgbClr val="102B3F"/>
                </a:solidFill>
              </a:defRPr>
            </a:lvl8pPr>
            <a:lvl9pPr>
              <a:buNone/>
              <a:defRPr sz="1950" b="0">
                <a:solidFill>
                  <a:srgbClr val="102B3F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B3F"/>
                </a:solidFill>
              </a:defRPr>
            </a:pPr>
            <a:r>
              <a:rPr sz="1875" b="0">
                <a:solidFill>
                  <a:srgbClr val="102B3F"/>
                </a:solidFill>
              </a:rPr>
              <a:t>Contributions and graph review pending. Neural networks belong to Phase 2</a:t>
            </a:r>
          </a:p>
        </p:txBody>
      </p:sp>
    </p:spTree>
    <p:extLst>
      <p:ext uri="{BB962C8B-B14F-4D97-AF65-F5344CB8AC3E}">
        <p14:creationId xmlns:p14="http://schemas.microsoft.com/office/powerpoint/2010/main" val="5351880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2026-10-20T20:48:23.0670000Z</dcterms:created>
  <dcterms:modified xsi:type="dcterms:W3CDTF">2026-10-20T20:48:23.0670000Z</dcterms:modified>
</coreProperties>
</file>