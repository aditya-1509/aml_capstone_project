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f35dc186744e9d" /><Relationship Type="http://schemas.openxmlformats.org/officeDocument/2006/relationships/extended-properties" Target="/docProps/app.xml" Id="Re12b60fe104545db" /><Relationship Type="http://schemas.openxmlformats.org/officeDocument/2006/relationships/officeDocument" Target="/ppt/presentation.xml" Id="Rdd61593205a44c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c491fd196d405d"/>
  </p:sldMasterIdLst>
  <p:notesMasterIdLst>
    <p:notesMasterId xmlns:r="http://schemas.openxmlformats.org/officeDocument/2006/relationships" r:id="Rbd4909a84f2f49b1"/>
  </p:notesMasterIdLst>
  <p:sldIdLst>
    <p:sldId xmlns:r="http://schemas.openxmlformats.org/officeDocument/2006/relationships" id="256" r:id="R9db4a3e33af24b64"/>
    <p:sldId xmlns:r="http://schemas.openxmlformats.org/officeDocument/2006/relationships" id="257" r:id="Rbdc20867cd084f1b"/>
    <p:sldId xmlns:r="http://schemas.openxmlformats.org/officeDocument/2006/relationships" id="258" r:id="R79e3ab7474324e01"/>
    <p:sldId xmlns:r="http://schemas.openxmlformats.org/officeDocument/2006/relationships" id="259" r:id="R8c1e68fe75674c14"/>
    <p:sldId xmlns:r="http://schemas.openxmlformats.org/officeDocument/2006/relationships" id="260" r:id="R906286fd896c4de3"/>
    <p:sldId xmlns:r="http://schemas.openxmlformats.org/officeDocument/2006/relationships" id="261" r:id="Rd1dded3d9c0946c6"/>
    <p:sldId xmlns:r="http://schemas.openxmlformats.org/officeDocument/2006/relationships" id="262" r:id="R66a8200eef6f4901"/>
    <p:sldId xmlns:r="http://schemas.openxmlformats.org/officeDocument/2006/relationships" id="263" r:id="R7f45a8bcb8fe421b"/>
    <p:sldId xmlns:r="http://schemas.openxmlformats.org/officeDocument/2006/relationships" id="264" r:id="R09aaf2236c3d426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4c4a55a5584e4c" /><Relationship Type="http://schemas.openxmlformats.org/officeDocument/2006/relationships/slideMaster" Target="/ppt/slideMasters/slideMaster1.xml" Id="R35c491fd196d405d" /><Relationship Type="http://schemas.openxmlformats.org/officeDocument/2006/relationships/notesMaster" Target="/ppt/notesMasters/notesMaster1.xml" Id="Rbd4909a84f2f49b1" /><Relationship Type="http://schemas.openxmlformats.org/officeDocument/2006/relationships/presProps" Target="/ppt/presProps.xml" Id="Rbabe7fff32cf4c5d" /><Relationship Type="http://schemas.openxmlformats.org/officeDocument/2006/relationships/tableStyles" Target="/ppt/tableStyles.xml" Id="Rce4b878e35db4980" /><Relationship Type="http://schemas.openxmlformats.org/officeDocument/2006/relationships/slide" Target="/ppt/slides/slide1.xml" Id="R9db4a3e33af24b64" /><Relationship Type="http://schemas.openxmlformats.org/officeDocument/2006/relationships/slide" Target="/ppt/slides/slide2.xml" Id="Rbdc20867cd084f1b" /><Relationship Type="http://schemas.openxmlformats.org/officeDocument/2006/relationships/slide" Target="/ppt/slides/slide3.xml" Id="R79e3ab7474324e01" /><Relationship Type="http://schemas.openxmlformats.org/officeDocument/2006/relationships/slide" Target="/ppt/slides/slide4.xml" Id="R8c1e68fe75674c14" /><Relationship Type="http://schemas.openxmlformats.org/officeDocument/2006/relationships/slide" Target="/ppt/slides/slide5.xml" Id="R906286fd896c4de3" /><Relationship Type="http://schemas.openxmlformats.org/officeDocument/2006/relationships/slide" Target="/ppt/slides/slide6.xml" Id="Rd1dded3d9c0946c6" /><Relationship Type="http://schemas.openxmlformats.org/officeDocument/2006/relationships/slide" Target="/ppt/slides/slide7.xml" Id="R66a8200eef6f4901" /><Relationship Type="http://schemas.openxmlformats.org/officeDocument/2006/relationships/slide" Target="/ppt/slides/slide8.xml" Id="R7f45a8bcb8fe421b" /><Relationship Type="http://schemas.openxmlformats.org/officeDocument/2006/relationships/slide" Target="/ppt/slides/slide9.xml" Id="R09aaf2236c3d426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2313b740d64c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8c441dfc08457d" /><Relationship Type="http://schemas.openxmlformats.org/officeDocument/2006/relationships/notesMaster" Target="/ppt/notesMasters/notesMaster1.xml" Id="R7972faf32e9549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cb90723270455c" /><Relationship Type="http://schemas.openxmlformats.org/officeDocument/2006/relationships/notesMaster" Target="/ppt/notesMasters/notesMaster1.xml" Id="R39bd1a8b755947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d256a4f5134859" /><Relationship Type="http://schemas.openxmlformats.org/officeDocument/2006/relationships/notesMaster" Target="/ppt/notesMasters/notesMaster1.xml" Id="Rb783732e507f42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cec90a9b434d66" /><Relationship Type="http://schemas.openxmlformats.org/officeDocument/2006/relationships/notesMaster" Target="/ppt/notesMasters/notesMaster1.xml" Id="R12cfda367ecd40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263a67b06a4cfc" /><Relationship Type="http://schemas.openxmlformats.org/officeDocument/2006/relationships/notesMaster" Target="/ppt/notesMasters/notesMaster1.xml" Id="R37c8feb336f645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9ee506b7a642fe" /><Relationship Type="http://schemas.openxmlformats.org/officeDocument/2006/relationships/notesMaster" Target="/ppt/notesMasters/notesMaster1.xml" Id="R062e9a00b90640e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7c304480cf491e" /><Relationship Type="http://schemas.openxmlformats.org/officeDocument/2006/relationships/notesMaster" Target="/ppt/notesMasters/notesMaster1.xml" Id="R8aeeae6ef22c45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57f6b3bf0f4cb3" /><Relationship Type="http://schemas.openxmlformats.org/officeDocument/2006/relationships/notesMaster" Target="/ppt/notesMasters/notesMaster1.xml" Id="R89e532fdc0004d7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928c1b940b4570" /><Relationship Type="http://schemas.openxmlformats.org/officeDocument/2006/relationships/notesMaster" Target="/ppt/notesMasters/notesMaster1.xml" Id="R0aa14743b1f54a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9ca62d82e24c7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ad842dfb5a44a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81dcb1699349a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131112415d425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457ed5041f4b3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60d7f92a234a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CCCF8C-7CD5-402D-A122-4DBC653C81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BB20F1E-DAA2-4554-8EC5-B51D03DF859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4E1433D-1207-4D1C-9461-92C234652F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EAC733E-54EF-40BD-8D34-13321F1B17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40E0C3D-2112-4B4E-B7CC-A3FC574CFB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DF7C5CE-887D-4E56-BDC1-F909BD5F0E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50ACF3-8A89-4A33-92A7-E743362503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A05B9C2-0EE6-488D-9846-12E860A48B5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1CF21A-274A-4C12-8A04-DC0C73CD4A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DCF91E5-34CD-4D88-882E-EFD0FFD84F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78dde3d51c44b8" /><Relationship Type="http://schemas.openxmlformats.org/officeDocument/2006/relationships/slideLayout" Target="/ppt/slideLayouts/slideLayout1.xml" Id="R331212cd30ae4aa6" /><Relationship Type="http://schemas.openxmlformats.org/officeDocument/2006/relationships/slideLayout" Target="/ppt/slideLayouts/slideLayout2.xml" Id="R324dd29f6a554667" /><Relationship Type="http://schemas.openxmlformats.org/officeDocument/2006/relationships/slideLayout" Target="/ppt/slideLayouts/slideLayout3.xml" Id="Rae6b4d07fd694c72" /><Relationship Type="http://schemas.openxmlformats.org/officeDocument/2006/relationships/slideLayout" Target="/ppt/slideLayouts/slideLayout4.xml" Id="R87c4245a4d8a4390" /><Relationship Type="http://schemas.openxmlformats.org/officeDocument/2006/relationships/slideLayout" Target="/ppt/slideLayouts/slideLayout5.xml" Id="Rfcd9dc0036284095" /><Relationship Type="http://schemas.openxmlformats.org/officeDocument/2006/relationships/slideLayout" Target="/ppt/slideLayouts/slideLayout6.xml" Id="Re2b4f9689e5a416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31212cd30ae4aa6"/>
    <p:sldLayoutId xmlns:r="http://schemas.openxmlformats.org/officeDocument/2006/relationships" id="2147483650" r:id="R324dd29f6a554667"/>
    <p:sldLayoutId xmlns:r="http://schemas.openxmlformats.org/officeDocument/2006/relationships" id="2147483651" r:id="Rae6b4d07fd694c72"/>
    <p:sldLayoutId xmlns:r="http://schemas.openxmlformats.org/officeDocument/2006/relationships" id="2147483652" r:id="R87c4245a4d8a4390"/>
    <p:sldLayoutId xmlns:r="http://schemas.openxmlformats.org/officeDocument/2006/relationships" id="2147483653" r:id="Rfcd9dc0036284095"/>
    <p:sldLayoutId xmlns:r="http://schemas.openxmlformats.org/officeDocument/2006/relationships" id="2147483654" r:id="Re2b4f9689e5a41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3a06bf59eb4935" /><Relationship Type="http://schemas.openxmlformats.org/officeDocument/2006/relationships/notesSlide" Target="/ppt/notesSlides/notesSlide1.xml" Id="R2d764ae066764a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59f5b06e5040b2" /><Relationship Type="http://schemas.openxmlformats.org/officeDocument/2006/relationships/notesSlide" Target="/ppt/notesSlides/notesSlide2.xml" Id="R9875b124a0af4e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ed2cfd73ec4e22" /><Relationship Type="http://schemas.openxmlformats.org/officeDocument/2006/relationships/chart" Target="/ppt/slides/charts/chart1.xml" Id="Rf6c2c18fcb05479e" /><Relationship Type="http://schemas.openxmlformats.org/officeDocument/2006/relationships/notesSlide" Target="/ppt/notesSlides/notesSlide3.xml" Id="Rd187c026afb046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f18eb27d614e0e" /><Relationship Type="http://schemas.openxmlformats.org/officeDocument/2006/relationships/notesSlide" Target="/ppt/notesSlides/notesSlide4.xml" Id="R78d57b8cb7e14e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bdb6e1ca2d4d99" /><Relationship Type="http://schemas.openxmlformats.org/officeDocument/2006/relationships/chart" Target="/ppt/slides/charts/chart2.xml" Id="Rd3154576da174067" /><Relationship Type="http://schemas.openxmlformats.org/officeDocument/2006/relationships/notesSlide" Target="/ppt/notesSlides/notesSlide5.xml" Id="Raebe5f829332424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64dbe229e747ad" /><Relationship Type="http://schemas.openxmlformats.org/officeDocument/2006/relationships/notesSlide" Target="/ppt/notesSlides/notesSlide6.xml" Id="Rf8981ae517a94a7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5844f0d0a04961" /><Relationship Type="http://schemas.openxmlformats.org/officeDocument/2006/relationships/chart" Target="/ppt/slides/charts/chart3.xml" Id="R2119b2b6d25a49b8" /><Relationship Type="http://schemas.openxmlformats.org/officeDocument/2006/relationships/notesSlide" Target="/ppt/notesSlides/notesSlide7.xml" Id="Rf37f09fde0d74b9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8e970cee744f11" /><Relationship Type="http://schemas.openxmlformats.org/officeDocument/2006/relationships/notesSlide" Target="/ppt/notesSlides/notesSlide8.xml" Id="R2eb25743e460445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bf70dcb8254651" /><Relationship Type="http://schemas.openxmlformats.org/officeDocument/2006/relationships/notesSlide" Target="/ppt/notesSlides/notesSlide9.xml" Id="R2c34caad5d5e41c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Missing records</c:v>
          </c:tx>
          <c:spPr>
            <a:solidFill xmlns:a="http://schemas.openxmlformats.org/drawingml/2006/main">
              <a:srgbClr val="087F78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Cholesterol</c:v>
                </c:pt>
                <c:pt idx="1">
                  <c:v>ST slope</c:v>
                </c:pt>
                <c:pt idx="2">
                  <c:v>Fasting sugar</c:v>
                </c:pt>
                <c:pt idx="3">
                  <c:v>Resting pressure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201</c:v>
                </c:pt>
                <c:pt idx="1">
                  <c:v>307</c:v>
                </c:pt>
                <c:pt idx="2">
                  <c:v>90</c:v>
                </c:pt>
                <c:pt idx="3">
                  <c:v>60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Mean CV F1 (%)</c:v>
          </c:tx>
          <c:spPr>
            <a:solidFill xmlns:a="http://schemas.openxmlformats.org/drawingml/2006/main">
              <a:srgbClr val="087F78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Histogram gradient boosting</c:v>
                </c:pt>
                <c:pt idx="1">
                  <c:v>Random forest</c:v>
                </c:pt>
                <c:pt idx="2">
                  <c:v>Logistic regression</c:v>
                </c:pt>
                <c:pt idx="3">
                  <c:v>XGBoost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83.76</c:v>
                </c:pt>
                <c:pt idx="1">
                  <c:v>83.72</c:v>
                </c:pt>
                <c:pt idx="2">
                  <c:v>82.47</c:v>
                </c:pt>
                <c:pt idx="3">
                  <c:v>82.43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ROC-AUC (%)</c:v>
          </c:tx>
          <c:spPr>
            <a:solidFill xmlns:a="http://schemas.openxmlformats.org/drawingml/2006/main">
              <a:srgbClr val="087F78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Cleveland</c:v>
                </c:pt>
                <c:pt idx="1">
                  <c:v>Hungary</c:v>
                </c:pt>
                <c:pt idx="2">
                  <c:v>Switzerland</c:v>
                </c:pt>
                <c:pt idx="3">
                  <c:v>VA Long Beach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84.5</c:v>
                </c:pt>
                <c:pt idx="1">
                  <c:v>86.4</c:v>
                </c:pt>
                <c:pt idx="2">
                  <c:v>76.8</c:v>
                </c:pt>
                <c:pt idx="3">
                  <c:v>70.2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032229-617C-4E65-8A38-47A8B025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02B3F"/>
                </a:solidFill>
              </a:defRPr>
            </a:pPr>
            <a:r>
              <a:rPr sz="3150" b="1">
                <a:solidFill>
                  <a:srgbClr val="102B3F"/>
                </a:solidFill>
              </a:rPr>
              <a:t>HeartLens | Phase 1 ML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9E0E15-DC4D-48D9-8B51-2B05F6C2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34125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674"/>
                </a:solidFill>
              </a:defRPr>
            </a:pPr>
            <a:r>
              <a:rPr sz="1125" b="0">
                <a:solidFill>
                  <a:srgbClr val="526674"/>
                </a:solidFill>
              </a:rPr>
              <a:t>1 /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13878D-02F4-4527-AA6D-A1584CF7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1000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625" b="1">
                <a:solidFill>
                  <a:srgbClr val="087F78"/>
                </a:solidFill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087F78"/>
                </a:solidFill>
              </a:defRPr>
            </a:pPr>
            <a:r>
              <a:rPr sz="2625" b="1">
                <a:solidFill>
                  <a:srgbClr val="087F78"/>
                </a:solidFill>
              </a:rPr>
              <a:t>Binary heart disease classification across four UCI hospitals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F50C75-F207-48F8-8F0C-6302EB62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26674"/>
                </a:solidFill>
              </a:defRPr>
            </a:pPr>
            <a:r>
              <a:rPr sz="1950" b="0">
                <a:solidFill>
                  <a:srgbClr val="526674"/>
                </a:solidFill>
              </a:rPr>
              <a:t>CSAI Project Team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DF5F9A-73A2-4B9A-A5F0-6AFE7359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14875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674"/>
                </a:solidFill>
              </a:defRPr>
            </a:pPr>
            <a:r>
              <a:rPr sz="1725" b="0">
                <a:solidFill>
                  <a:srgbClr val="526674"/>
                </a:solidFill>
              </a:rPr>
              <a:t>Educational model • Source data: UCI Heart Disease</a:t>
            </a:r>
          </a:p>
        </p:txBody>
      </p:sp>
    </p:spTree>
    <p:extLst>
      <p:ext uri="{BB962C8B-B14F-4D97-AF65-F5344CB8AC3E}">
        <p14:creationId xmlns:p14="http://schemas.microsoft.com/office/powerpoint/2010/main" val="17504717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0C3147-8454-4AE7-9BE6-3E34CBC4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02B3F"/>
                </a:solidFill>
              </a:defRPr>
            </a:pPr>
            <a:r>
              <a:rPr sz="3150" b="1">
                <a:solidFill>
                  <a:srgbClr val="102B3F"/>
                </a:solidFill>
              </a:rPr>
              <a:t>Problem and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BC6EC1-E280-4DCA-B3DA-73BD90F1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34125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674"/>
                </a:solidFill>
              </a:defRPr>
            </a:pPr>
            <a:r>
              <a:rPr sz="1125" b="0">
                <a:solidFill>
                  <a:srgbClr val="526674"/>
                </a:solidFill>
              </a:rPr>
              <a:t>2 /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8C7FCC-6DE4-447E-85DF-303A45F4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674"/>
                </a:solidFill>
              </a:defRPr>
            </a:pPr>
            <a:r>
              <a:rPr sz="1050" b="0">
                <a:solidFill>
                  <a:srgbClr val="526674"/>
                </a:solidFill>
              </a:rPr>
              <a:t>Source: UCI Heart Disease, archive.ics.uci.edu/dataset/45/heart+disease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B771EA-4DBC-423C-A598-1EA40685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087F78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87F78"/>
                </a:solidFill>
              </a:defRPr>
            </a:pPr>
            <a:r>
              <a:rPr sz="2025" b="1">
                <a:solidFill>
                  <a:srgbClr val="087F78"/>
                </a:solidFill>
              </a:rPr>
              <a:t>Target: num &gt; 0 means disease present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5A77FB-6C64-467B-BBD5-6C429E44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02B3F"/>
                </a:solidFill>
              </a:defRPr>
            </a:pPr>
            <a:r>
              <a:rPr sz="2025" b="0">
                <a:solidFill>
                  <a:srgbClr val="102B3F"/>
                </a:solidFill>
              </a:rPr>
              <a:t>920 source rows → 918 after duplicate removal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57286-AE8A-4500-B18A-102D8B82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71875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02B3F"/>
                </a:solidFill>
              </a:defRPr>
            </a:pPr>
            <a:r>
              <a:rPr sz="2025" b="0">
                <a:solidFill>
                  <a:srgbClr val="102B3F"/>
                </a:solidFill>
              </a:rPr>
              <a:t>508 positive and 410 negative records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9D33C6-291A-4601-8140-0993ABEB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02B3F"/>
                </a:solidFill>
              </a:defRPr>
            </a:pPr>
            <a:r>
              <a:rPr sz="2025" b="0">
                <a:solidFill>
                  <a:srgbClr val="102B3F"/>
                </a:solidFill>
              </a:rPr>
              <a:t>11 predictors; hospital kept for generalization checks</a:t>
            </a:r>
          </a:p>
        </p:txBody>
      </p:sp>
    </p:spTree>
    <p:extLst>
      <p:ext uri="{BB962C8B-B14F-4D97-AF65-F5344CB8AC3E}">
        <p14:creationId xmlns:p14="http://schemas.microsoft.com/office/powerpoint/2010/main" val="17150720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74547D-345C-4C42-9A30-18601260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02B3F"/>
                </a:solidFill>
              </a:defRPr>
            </a:pPr>
            <a:r>
              <a:rPr sz="3150" b="1">
                <a:solidFill>
                  <a:srgbClr val="102B3F"/>
                </a:solidFill>
              </a:rPr>
              <a:t>Data quality and missingness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455772-7E67-4DBD-9D58-9D9982A57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34125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674"/>
                </a:solidFill>
              </a:defRPr>
            </a:pPr>
            <a:r>
              <a:rPr sz="1125" b="0">
                <a:solidFill>
                  <a:srgbClr val="526674"/>
                </a:solidFill>
              </a:rPr>
              <a:t>3 /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4ABEED-5794-4256-B47A-FEE059BD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674"/>
                </a:solidFill>
              </a:defRPr>
            </a:pPr>
            <a:r>
              <a:rPr sz="1050" b="0">
                <a:solidFill>
                  <a:srgbClr val="526674"/>
                </a:solidFill>
              </a:rPr>
              <a:t>Source: artifacts/eda.json, generated from the supplied CSV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B9AF87E9-0545-4AD5-B784-3077A7F2DB76}"/>
              </a:ext>
            </a:extLst>
          </p:cNvPr>
          <p:cNvGraphicFramePr/>
          <p:nvPr/>
        </p:nvGraphicFramePr>
        <p:xfrm>
          <a:off xmlns:a="http://schemas.openxmlformats.org/drawingml/2006/main" x="952500" y="1714500"/>
          <a:ext xmlns:a="http://schemas.openxmlformats.org/drawingml/2006/main" cx="9906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6c2c18fcb05479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DDFE45-1FDC-4997-9645-0EA8C395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2450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26674"/>
                </a:solidFill>
              </a:defRPr>
            </a:pPr>
            <a:r>
              <a:rPr sz="1650" b="0">
                <a:solidFill>
                  <a:srgbClr val="526674"/>
                </a:solidFill>
              </a:rPr>
              <a:t>Zeros in cholesterol and resting pressure are treated as missing.</a:t>
            </a:r>
          </a:p>
        </p:txBody>
      </p:sp>
    </p:spTree>
    <p:extLst>
      <p:ext uri="{BB962C8B-B14F-4D97-AF65-F5344CB8AC3E}">
        <p14:creationId xmlns:p14="http://schemas.microsoft.com/office/powerpoint/2010/main" val="14427119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B4104E-833F-4F2C-B629-1530783E0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02B3F"/>
                </a:solidFill>
              </a:defRPr>
            </a:pPr>
            <a:r>
              <a:rPr sz="3150" b="1">
                <a:solidFill>
                  <a:srgbClr val="102B3F"/>
                </a:solidFill>
              </a:rPr>
              <a:t>Leakage-controlled experiment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BFCF11-0E05-4426-AD48-857E8721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34125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674"/>
                </a:solidFill>
              </a:defRPr>
            </a:pPr>
            <a:r>
              <a:rPr sz="1125" b="0">
                <a:solidFill>
                  <a:srgbClr val="526674"/>
                </a:solidFill>
              </a:rPr>
              <a:t>4 /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252EFE-2470-4194-AEC4-5A96CFF5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10382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1">
                <a:solidFill>
                  <a:srgbClr val="087F78"/>
                </a:solidFill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087F78"/>
                </a:solidFill>
              </a:defRPr>
            </a:pPr>
            <a:r>
              <a:rPr sz="1950" b="1">
                <a:solidFill>
                  <a:srgbClr val="087F78"/>
                </a:solidFill>
              </a:rPr>
              <a:t>Remove duplicate records before splitting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6A6D08-6064-4A4E-9976-B968E10D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10382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02B3F"/>
                </a:solidFill>
              </a:defRPr>
            </a:pPr>
            <a:r>
              <a:rPr sz="1950" b="0">
                <a:solidFill>
                  <a:srgbClr val="102B3F"/>
                </a:solidFill>
              </a:rPr>
              <a:t>734 train / 184 test, stratified by binary label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75F3B9-01FE-480B-BF17-F8DA91EEE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10382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02B3F"/>
                </a:solidFill>
              </a:defRPr>
            </a:pPr>
            <a:r>
              <a:rPr sz="1950" b="0">
                <a:solidFill>
                  <a:srgbClr val="102B3F"/>
                </a:solidFill>
              </a:rPr>
              <a:t>Fit imputation, encoding and scaling inside each CV fold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B6058F-2128-4BA7-B741-EE212F9F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33850"/>
            <a:ext cx="10382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02B3F"/>
                </a:solidFill>
              </a:defRPr>
            </a:pPr>
            <a:r>
              <a:rPr sz="1950" b="0">
                <a:solidFill>
                  <a:srgbClr val="102B3F"/>
                </a:solidFill>
              </a:rPr>
              <a:t>Tune four model families with five-fold CV on train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FEEF43-9581-4C7C-B09B-B3F306AF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72050"/>
            <a:ext cx="10382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02B3F"/>
                </a:solidFill>
              </a:defRPr>
            </a:pPr>
            <a:r>
              <a:rPr sz="1950" b="0">
                <a:solidFill>
                  <a:srgbClr val="102B3F"/>
                </a:solidFill>
              </a:rPr>
              <a:t>Choose cutoff from training predictions; test once</a:t>
            </a:r>
          </a:p>
        </p:txBody>
      </p:sp>
    </p:spTree>
    <p:extLst>
      <p:ext uri="{BB962C8B-B14F-4D97-AF65-F5344CB8AC3E}">
        <p14:creationId xmlns:p14="http://schemas.microsoft.com/office/powerpoint/2010/main" val="11914977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362E79-D7C8-42BE-8EE3-C458C6DB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02B3F"/>
                </a:solidFill>
              </a:defRPr>
            </a:pPr>
            <a:r>
              <a:rPr sz="3150" b="1">
                <a:solidFill>
                  <a:srgbClr val="102B3F"/>
                </a:solidFill>
              </a:rPr>
              <a:t>Cross-validation F1 (%)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92F18A-F576-40B9-BCCB-4E1EBB9C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34125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674"/>
                </a:solidFill>
              </a:defRPr>
            </a:pPr>
            <a:r>
              <a:rPr sz="1125" b="0">
                <a:solidFill>
                  <a:srgbClr val="526674"/>
                </a:solidFill>
              </a:rPr>
              <a:t>5 /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6997BB-9B64-4867-BBE2-3D9E1DDE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674"/>
                </a:solidFill>
              </a:defRPr>
            </a:pPr>
            <a:r>
              <a:rPr sz="1050" b="0">
                <a:solidFill>
                  <a:srgbClr val="526674"/>
                </a:solidFill>
              </a:rPr>
              <a:t>Mean five-fold F1 on training records; selected model uses highest F1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FF4610A0-D182-4448-89D7-EB11734C96AB}"/>
              </a:ext>
            </a:extLst>
          </p:cNvPr>
          <p:cNvGraphicFramePr/>
          <p:nvPr/>
        </p:nvGraphicFramePr>
        <p:xfrm>
          <a:off xmlns:a="http://schemas.openxmlformats.org/drawingml/2006/main" x="762000" y="1619250"/>
          <a:ext xmlns:a="http://schemas.openxmlformats.org/drawingml/2006/main" cx="10287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154576da174067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B29D64-C05F-4647-B18C-055BF2E4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76875"/>
            <a:ext cx="1019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674"/>
                </a:solidFill>
              </a:defRPr>
            </a:pPr>
            <a:r>
              <a:rPr sz="1725" b="0">
                <a:solidFill>
                  <a:srgbClr val="526674"/>
                </a:solidFill>
              </a:rPr>
              <a:t>Top two differ by 0.0004; fold variation is much larger.</a:t>
            </a:r>
          </a:p>
        </p:txBody>
      </p:sp>
    </p:spTree>
    <p:extLst>
      <p:ext uri="{BB962C8B-B14F-4D97-AF65-F5344CB8AC3E}">
        <p14:creationId xmlns:p14="http://schemas.microsoft.com/office/powerpoint/2010/main" val="9523444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6C57A-3FAB-4EC6-B481-03E9465D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02B3F"/>
                </a:solidFill>
              </a:defRPr>
            </a:pPr>
            <a:r>
              <a:rPr sz="3150" b="1">
                <a:solidFill>
                  <a:srgbClr val="102B3F"/>
                </a:solidFill>
              </a:rPr>
              <a:t>Held-out test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AE9977-05E3-4E84-AC56-2B618756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34125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674"/>
                </a:solidFill>
              </a:defRPr>
            </a:pPr>
            <a:r>
              <a:rPr sz="1125" b="0">
                <a:solidFill>
                  <a:srgbClr val="526674"/>
                </a:solidFill>
              </a:rPr>
              <a:t>6 /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84ECB4-EFEC-4FBD-8B6C-3CC17F42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674"/>
                </a:solidFill>
              </a:defRPr>
            </a:pPr>
            <a:r>
              <a:rPr sz="1050" b="0">
                <a:solidFill>
                  <a:srgbClr val="526674"/>
                </a:solidFill>
              </a:rPr>
              <a:t>Source: artifacts/metrics.json; cutoff selected from training records only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EDA57-9E48-4307-B090-18635E83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762125"/>
            <a:ext cx="457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925" b="1">
                <a:solidFill>
                  <a:srgbClr val="087F78"/>
                </a:solidFill>
              </a:defRPr>
            </a:defPPr>
          </a:lstStyle>
          <a:p xmlns:a="http://schemas.openxmlformats.org/drawingml/2006/main">
            <a:pPr>
              <a:defRPr sz="2925" b="1">
                <a:solidFill>
                  <a:srgbClr val="087F78"/>
                </a:solidFill>
              </a:defRPr>
            </a:pPr>
            <a:r>
              <a:rPr sz="2925" b="1">
                <a:solidFill>
                  <a:srgbClr val="087F78"/>
                </a:solidFill>
              </a:rPr>
              <a:t>F1  0.836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0BB7E0-BB9F-44D8-8D83-7315BC14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62125"/>
            <a:ext cx="466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925" b="1">
                <a:solidFill>
                  <a:srgbClr val="087F78"/>
                </a:solidFill>
              </a:defRPr>
            </a:defPPr>
          </a:lstStyle>
          <a:p xmlns:a="http://schemas.openxmlformats.org/drawingml/2006/main">
            <a:pPr>
              <a:defRPr sz="2925" b="1">
                <a:solidFill>
                  <a:srgbClr val="087F78"/>
                </a:solidFill>
              </a:defRPr>
            </a:pPr>
            <a:r>
              <a:rPr sz="2925" b="1">
                <a:solidFill>
                  <a:srgbClr val="087F78"/>
                </a:solidFill>
              </a:rPr>
              <a:t>Recall  0.873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0A655D-4049-453E-BDB4-D3F05FC1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52750"/>
            <a:ext cx="571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925" b="1">
                <a:solidFill>
                  <a:srgbClr val="087F78"/>
                </a:solidFill>
              </a:defRPr>
            </a:defPPr>
          </a:lstStyle>
          <a:p xmlns:a="http://schemas.openxmlformats.org/drawingml/2006/main">
            <a:pPr>
              <a:defRPr sz="2925" b="1">
                <a:solidFill>
                  <a:srgbClr val="087F78"/>
                </a:solidFill>
              </a:defRPr>
            </a:pPr>
            <a:r>
              <a:rPr sz="2925" b="1">
                <a:solidFill>
                  <a:srgbClr val="087F78"/>
                </a:solidFill>
              </a:rPr>
              <a:t>ROC-AUC  0.901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AA97DE-B85C-4F34-BE2D-86987AB7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952750"/>
            <a:ext cx="466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925" b="1">
                <a:solidFill>
                  <a:srgbClr val="087F78"/>
                </a:solidFill>
              </a:defRPr>
            </a:defPPr>
          </a:lstStyle>
          <a:p xmlns:a="http://schemas.openxmlformats.org/drawingml/2006/main">
            <a:pPr>
              <a:defRPr sz="2925" b="1">
                <a:solidFill>
                  <a:srgbClr val="087F78"/>
                </a:solidFill>
              </a:defRPr>
            </a:pPr>
            <a:r>
              <a:rPr sz="2925" b="1">
                <a:solidFill>
                  <a:srgbClr val="087F78"/>
                </a:solidFill>
              </a:rPr>
              <a:t>Cutoff  0.47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77B381-1839-4E37-A0BF-5FCE7F24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4767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02B3F"/>
                </a:solidFill>
              </a:defRPr>
            </a:pPr>
            <a:r>
              <a:rPr sz="2175" b="1">
                <a:solidFill>
                  <a:srgbClr val="102B3F"/>
                </a:solidFill>
              </a:rPr>
              <a:t>TN 60  •  FP 22  •  FN 13  •  TP 89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38A72-B89C-4875-A885-95CF1F73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42925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674"/>
                </a:solidFill>
              </a:defRPr>
            </a:pPr>
            <a:r>
              <a:rPr sz="1725" b="0">
                <a:solidFill>
                  <a:srgbClr val="526674"/>
                </a:solidFill>
              </a:rPr>
              <a:t>False negatives remain; the score is not a diagnosis.</a:t>
            </a:r>
          </a:p>
        </p:txBody>
      </p:sp>
    </p:spTree>
    <p:extLst>
      <p:ext uri="{BB962C8B-B14F-4D97-AF65-F5344CB8AC3E}">
        <p14:creationId xmlns:p14="http://schemas.microsoft.com/office/powerpoint/2010/main" val="15145808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407408-DD17-4316-A129-C3A54F417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02B3F"/>
                </a:solidFill>
              </a:defRPr>
            </a:pPr>
            <a:r>
              <a:rPr sz="3150" b="1">
                <a:solidFill>
                  <a:srgbClr val="102B3F"/>
                </a:solidFill>
              </a:rPr>
              <a:t>ROC-AUC by hospital (%)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5EA552-4B08-4B1D-A88A-41A35E0B7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34125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674"/>
                </a:solidFill>
              </a:defRPr>
            </a:pPr>
            <a:r>
              <a:rPr sz="1125" b="0">
                <a:solidFill>
                  <a:srgbClr val="526674"/>
                </a:solidFill>
              </a:rPr>
              <a:t>7 /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D1072-D019-4D51-BD31-206CD0F5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674"/>
                </a:solidFill>
              </a:defRPr>
            </a:pPr>
            <a:r>
              <a:rPr sz="1050" b="0">
                <a:solidFill>
                  <a:srgbClr val="526674"/>
                </a:solidFill>
              </a:rPr>
              <a:t>Separate leave-one-hospital-out experiments; held-out threshold = 0.50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3A93CFE4-1066-477E-998E-657B52E01A8C}"/>
              </a:ext>
            </a:extLst>
          </p:cNvPr>
          <p:cNvGraphicFramePr/>
          <p:nvPr/>
        </p:nvGraphicFramePr>
        <p:xfrm>
          <a:off xmlns:a="http://schemas.openxmlformats.org/drawingml/2006/main" x="809625" y="1666875"/>
          <a:ext xmlns:a="http://schemas.openxmlformats.org/drawingml/2006/main" cx="10287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119b2b6d25a49b8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34FA40-3BAC-49E3-A636-4BF34F85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2450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26674"/>
                </a:solidFill>
              </a:defRPr>
            </a:pPr>
            <a:r>
              <a:rPr sz="1650" b="0">
                <a:solidFill>
                  <a:srgbClr val="526674"/>
                </a:solidFill>
              </a:rPr>
              <a:t>The four sites have different disease prevalence and missing-data patterns.</a:t>
            </a:r>
          </a:p>
        </p:txBody>
      </p:sp>
    </p:spTree>
    <p:extLst>
      <p:ext uri="{BB962C8B-B14F-4D97-AF65-F5344CB8AC3E}">
        <p14:creationId xmlns:p14="http://schemas.microsoft.com/office/powerpoint/2010/main" val="5578481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F56563-6224-4E7B-AB82-AF543217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02B3F"/>
                </a:solidFill>
              </a:defRPr>
            </a:pPr>
            <a:r>
              <a:rPr sz="3150" b="1">
                <a:solidFill>
                  <a:srgbClr val="102B3F"/>
                </a:solidFill>
              </a:rPr>
              <a:t>Interpretation and limitations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236AA6-8688-4AC6-BE5E-B010002C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34125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674"/>
                </a:solidFill>
              </a:defRPr>
            </a:pPr>
            <a:r>
              <a:rPr sz="1125" b="0">
                <a:solidFill>
                  <a:srgbClr val="526674"/>
                </a:solidFill>
              </a:rPr>
              <a:t>8 /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28B7A-B55C-40EB-A921-D899A6E3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10382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087F78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87F78"/>
                </a:solidFill>
              </a:defRPr>
            </a:pPr>
            <a:r>
              <a:rPr sz="1800" b="1">
                <a:solidFill>
                  <a:srgbClr val="087F78"/>
                </a:solidFill>
              </a:rPr>
              <a:t>Selected booster leads random forest by only 0.0004 F1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E7AFEF-7668-4827-BD88-1DB7F411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66975"/>
            <a:ext cx="10382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02B3F"/>
                </a:solidFill>
              </a:defRPr>
            </a:pPr>
            <a:r>
              <a:rPr sz="1800" b="0">
                <a:solidFill>
                  <a:srgbClr val="102B3F"/>
                </a:solidFill>
              </a:rPr>
              <a:t>Chest-pain category has the largest test permutation AUC drop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D5AF46-39BF-4AC1-8591-ABA02464A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10382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02B3F"/>
                </a:solidFill>
              </a:defRPr>
            </a:pPr>
            <a:r>
              <a:rPr sz="1800" b="0">
                <a:solidFill>
                  <a:srgbClr val="102B3F"/>
                </a:solidFill>
              </a:rPr>
              <a:t>Permutation importance is exploratory and affected by correlation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EC09EF-035E-4F7E-B741-E68976A2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62425"/>
            <a:ext cx="10382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02B3F"/>
                </a:solidFill>
              </a:defRPr>
            </a:pPr>
            <a:r>
              <a:rPr sz="1800" b="0">
                <a:solidFill>
                  <a:srgbClr val="102B3F"/>
                </a:solidFill>
              </a:rPr>
              <a:t>Small historical cohort; site shift limits transport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179A31-C44A-4CBD-AC5B-FD8B09B5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10382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02B3F"/>
                </a:solidFill>
              </a:defRPr>
            </a:pPr>
            <a:r>
              <a:rPr sz="1800" b="0">
                <a:solidFill>
                  <a:srgbClr val="102B3F"/>
                </a:solidFill>
              </a:rPr>
              <a:t>No prospective clinical or independent external validation</a:t>
            </a:r>
          </a:p>
        </p:txBody>
      </p:sp>
    </p:spTree>
    <p:extLst>
      <p:ext uri="{BB962C8B-B14F-4D97-AF65-F5344CB8AC3E}">
        <p14:creationId xmlns:p14="http://schemas.microsoft.com/office/powerpoint/2010/main" val="6763163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E152C8-E494-4305-8AEF-B01D745F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02B3F"/>
                </a:solidFill>
              </a:defRPr>
            </a:pPr>
            <a:r>
              <a:rPr sz="3150" b="1">
                <a:solidFill>
                  <a:srgbClr val="102B3F"/>
                </a:solidFill>
              </a:rPr>
              <a:t>Reproduction and viva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08F040-F03E-4455-8278-B22A9219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334125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674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674"/>
                </a:solidFill>
              </a:defRPr>
            </a:pPr>
            <a:r>
              <a:rPr sz="1125" b="0">
                <a:solidFill>
                  <a:srgbClr val="526674"/>
                </a:solidFill>
              </a:rPr>
              <a:t>9 /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051068-25FF-4AF0-A09F-9C770477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10382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1">
                <a:solidFill>
                  <a:srgbClr val="087F78"/>
                </a:solidFill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087F78"/>
                </a:solidFill>
              </a:defRPr>
            </a:pPr>
            <a:r>
              <a:rPr sz="1950" b="1">
                <a:solidFill>
                  <a:srgbClr val="087F78"/>
                </a:solidFill>
              </a:rPr>
              <a:t>python eda.py → dataset audit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66BE2B-5781-4752-B0F7-C3DFC63E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10382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02B3F"/>
                </a:solidFill>
              </a:defRPr>
            </a:pPr>
            <a:r>
              <a:rPr sz="1950" b="0">
                <a:solidFill>
                  <a:srgbClr val="102B3F"/>
                </a:solidFill>
              </a:rPr>
              <a:t>python train.py → saved model and metrics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7D98E-E0CE-45AB-8889-ECEAFFBEE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10382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02B3F"/>
                </a:solidFill>
              </a:defRPr>
            </a:pPr>
            <a:r>
              <a:rPr sz="1950" b="0">
                <a:solidFill>
                  <a:srgbClr val="102B3F"/>
                </a:solidFill>
              </a:rPr>
              <a:t>streamlit run app.py → prediction and evidence pages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161090-C0E6-4338-98C1-F4831688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33850"/>
            <a:ext cx="10382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02B3F"/>
                </a:solidFill>
              </a:defRPr>
            </a:pPr>
            <a:r>
              <a:rPr sz="1950" b="0">
                <a:solidFill>
                  <a:srgbClr val="102B3F"/>
                </a:solidFill>
              </a:rPr>
              <a:t>Explain target, split, leakage control, metrics and hospital shift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C4643A-DC97-4CEF-A596-D77EF3FF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72050"/>
            <a:ext cx="10382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3F"/>
                </a:solidFill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02B3F"/>
                </a:solidFill>
              </a:defRPr>
            </a:pPr>
            <a:r>
              <a:rPr sz="1950" b="0">
                <a:solidFill>
                  <a:srgbClr val="102B3F"/>
                </a:solidFill>
              </a:rPr>
              <a:t>Phase 1 contains classical ML only</a:t>
            </a:r>
          </a:p>
        </p:txBody>
      </p:sp>
    </p:spTree>
    <p:extLst>
      <p:ext uri="{BB962C8B-B14F-4D97-AF65-F5344CB8AC3E}">
        <p14:creationId xmlns:p14="http://schemas.microsoft.com/office/powerpoint/2010/main" val="5351880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2026-10-15T18:42:18.6230000Z</dcterms:created>
  <dcterms:modified xsi:type="dcterms:W3CDTF">2026-10-15T18:42:18.6230000Z</dcterms:modified>
</coreProperties>
</file>